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7" r:id="rId14"/>
    <p:sldId id="272" r:id="rId15"/>
    <p:sldId id="268" r:id="rId16"/>
    <p:sldId id="274" r:id="rId17"/>
    <p:sldId id="269" r:id="rId18"/>
    <p:sldId id="270" r:id="rId19"/>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hf hdr="0" dt="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image" Target="../media/image1.png"/><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2" Type="http://schemas.openxmlformats.org/officeDocument/2006/relationships/notesSlide" Target="../notesSlides/notesSlide4.xml"/><Relationship Id="rId11" Type="http://schemas.openxmlformats.org/officeDocument/2006/relationships/slideLayout" Target="../slideLayouts/slideLayout1.xml"/><Relationship Id="rId10" Type="http://schemas.openxmlformats.org/officeDocument/2006/relationships/tags" Target="../tags/tag9.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1" Type="http://schemas.openxmlformats.org/officeDocument/2006/relationships/notesSlide" Target="../notesSlides/notesSlide10.xml"/><Relationship Id="rId10" Type="http://schemas.openxmlformats.org/officeDocument/2006/relationships/slideLayout" Target="../slideLayouts/slideLayout1.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609600" y="817245"/>
            <a:ext cx="7924800" cy="1371600"/>
          </a:xfrm>
          <a:prstGeom prst="rect">
            <a:avLst/>
          </a:prstGeom>
          <a:noFill/>
        </p:spPr>
        <p:txBody>
          <a:bodyPr wrap="square" lIns="0" tIns="0" rIns="0" bIns="0" rtlCol="0" anchor="t"/>
          <a:lstStyle/>
          <a:p>
            <a:pPr marL="0" indent="0" algn="ctr">
              <a:lnSpc>
                <a:spcPts val="5400"/>
              </a:lnSpc>
              <a:buNone/>
            </a:pPr>
            <a:r>
              <a:rPr lang="en-US" sz="4500" b="1" dirty="0">
                <a:solidFill>
                  <a:srgbClr val="38BDF8"/>
                </a:solidFill>
                <a:latin typeface="Arial" panose="020B0604020202020204" pitchFamily="34" charset="0"/>
                <a:ea typeface="Arial" panose="020B0604020202020204" pitchFamily="34" charset="-122"/>
                <a:cs typeface="Arial" panose="020B0604020202020204" pitchFamily="34" charset="-120"/>
              </a:rPr>
              <a:t>Course Recommendation System</a:t>
            </a:r>
            <a:endParaRPr lang="en-US" sz="4500" dirty="0"/>
          </a:p>
        </p:txBody>
      </p:sp>
      <p:sp>
        <p:nvSpPr>
          <p:cNvPr id="3" name="Text 1"/>
          <p:cNvSpPr/>
          <p:nvPr/>
        </p:nvSpPr>
        <p:spPr>
          <a:xfrm>
            <a:off x="2580323" y="2341245"/>
            <a:ext cx="3983355" cy="320040"/>
          </a:xfrm>
          <a:prstGeom prst="rect">
            <a:avLst/>
          </a:prstGeom>
          <a:noFill/>
        </p:spPr>
        <p:txBody>
          <a:bodyPr wrap="square" lIns="0" tIns="0" rIns="0" bIns="0" rtlCol="0" anchor="t"/>
          <a:lstStyle/>
          <a:p>
            <a:pPr marL="0" indent="0" algn="ctr">
              <a:lnSpc>
                <a:spcPts val="2520"/>
              </a:lnSpc>
              <a:buNone/>
            </a:pPr>
            <a:r>
              <a:rPr lang="en-IN" altLang="en-US" sz="1800" dirty="0">
                <a:solidFill>
                  <a:srgbClr val="CBD5E1"/>
                </a:solidFill>
                <a:latin typeface="Arial" panose="020B0604020202020204" pitchFamily="34" charset="0"/>
                <a:ea typeface="Arial" panose="020B0604020202020204" pitchFamily="34" charset="-122"/>
                <a:cs typeface="Arial" panose="020B0604020202020204" pitchFamily="34" charset="-120"/>
              </a:rPr>
              <a:t>Group - 1  , </a:t>
            </a:r>
            <a:r>
              <a:rPr lang="en-US" altLang="en-US" sz="1800" dirty="0">
                <a:solidFill>
                  <a:srgbClr val="CBD5E1"/>
                </a:solidFill>
                <a:latin typeface="Arial" panose="020B0604020202020204" pitchFamily="34" charset="0"/>
                <a:ea typeface="Arial" panose="020B0604020202020204" pitchFamily="34" charset="-122"/>
                <a:cs typeface="Arial" panose="020B0604020202020204" pitchFamily="34" charset="-120"/>
              </a:rPr>
              <a:t>DS_P618</a:t>
            </a:r>
            <a:endParaRPr lang="en-US" altLang="en-US" sz="1800" dirty="0">
              <a:solidFill>
                <a:srgbClr val="CBD5E1"/>
              </a:solidFill>
              <a:latin typeface="Arial" panose="020B0604020202020204" pitchFamily="34" charset="0"/>
              <a:ea typeface="Arial" panose="020B0604020202020204" pitchFamily="34" charset="-122"/>
              <a:cs typeface="Arial" panose="020B0604020202020204" pitchFamily="34" charset="-120"/>
            </a:endParaRPr>
          </a:p>
          <a:p>
            <a:pPr marL="0" indent="0" algn="ctr">
              <a:lnSpc>
                <a:spcPts val="2520"/>
              </a:lnSpc>
              <a:buNone/>
            </a:pPr>
            <a:endParaRPr lang="en-US" altLang="en-US" sz="1800" dirty="0">
              <a:solidFill>
                <a:srgbClr val="CBD5E1"/>
              </a:solidFill>
              <a:latin typeface="Arial" panose="020B0604020202020204" pitchFamily="34" charset="0"/>
              <a:ea typeface="Arial" panose="020B0604020202020204" pitchFamily="34" charset="-122"/>
              <a:cs typeface="Arial" panose="020B0604020202020204" pitchFamily="34" charset="-120"/>
            </a:endParaRPr>
          </a:p>
          <a:p>
            <a:pPr marL="0" indent="0" algn="ctr">
              <a:lnSpc>
                <a:spcPts val="2520"/>
              </a:lnSpc>
              <a:buNone/>
            </a:pPr>
            <a:r>
              <a:rPr lang="en-US" sz="1600" dirty="0">
                <a:solidFill>
                  <a:srgbClr val="CBD5E1"/>
                </a:solidFill>
                <a:latin typeface="Arial" panose="020B0604020202020204" pitchFamily="34" charset="0"/>
                <a:ea typeface="Arial" panose="020B0604020202020204" pitchFamily="34" charset="-122"/>
                <a:cs typeface="Arial" panose="020B0604020202020204" pitchFamily="34" charset="-120"/>
              </a:rPr>
              <a:t>ML Pipeline &amp; Deployment</a:t>
            </a:r>
            <a:endParaRPr lang="en-US" sz="1600" dirty="0"/>
          </a:p>
        </p:txBody>
      </p:sp>
      <p:sp>
        <p:nvSpPr>
          <p:cNvPr id="4" name="Text 2"/>
          <p:cNvSpPr/>
          <p:nvPr/>
        </p:nvSpPr>
        <p:spPr>
          <a:xfrm>
            <a:off x="2644080" y="3413125"/>
            <a:ext cx="3855839" cy="186690"/>
          </a:xfrm>
          <a:prstGeom prst="rect">
            <a:avLst/>
          </a:prstGeom>
          <a:noFill/>
        </p:spPr>
        <p:txBody>
          <a:bodyPr wrap="square" lIns="0" tIns="0" rIns="0" bIns="0" rtlCol="0" anchor="t"/>
          <a:lstStyle/>
          <a:p>
            <a:pPr marL="0" indent="0" algn="ctr">
              <a:lnSpc>
                <a:spcPts val="1470"/>
              </a:lnSpc>
              <a:buNone/>
            </a:pPr>
            <a:r>
              <a:rPr lang="en-US" sz="1050" dirty="0">
                <a:solidFill>
                  <a:srgbClr val="94A3B8"/>
                </a:solidFill>
                <a:latin typeface="Arial" panose="020B0604020202020204" pitchFamily="34" charset="0"/>
                <a:ea typeface="Arial" panose="020B0604020202020204" pitchFamily="34" charset="-122"/>
                <a:cs typeface="Arial" panose="020B0604020202020204" pitchFamily="34" charset="-120"/>
              </a:rPr>
              <a:t>Hybrid SVD + Collaborative Filtering + Content-Based Approach</a:t>
            </a:r>
            <a:endParaRPr lang="en-US" sz="1050" dirty="0"/>
          </a:p>
        </p:txBody>
      </p:sp>
      <p:sp>
        <p:nvSpPr>
          <p:cNvPr id="5" name="Text 1"/>
          <p:cNvSpPr/>
          <p:nvPr/>
        </p:nvSpPr>
        <p:spPr>
          <a:xfrm>
            <a:off x="256540" y="3636645"/>
            <a:ext cx="3430270" cy="320040"/>
          </a:xfrm>
          <a:prstGeom prst="rect">
            <a:avLst/>
          </a:prstGeom>
          <a:noFill/>
        </p:spPr>
        <p:txBody>
          <a:bodyPr wrap="square" lIns="0" tIns="0" rIns="0" bIns="0" rtlCol="0" anchor="t"/>
          <a:lstStyle/>
          <a:p>
            <a:pPr marL="0" indent="0" algn="l">
              <a:lnSpc>
                <a:spcPct val="150000"/>
              </a:lnSpc>
              <a:buNone/>
            </a:pPr>
            <a:r>
              <a:rPr lang="en-IN" altLang="en-US" sz="900" b="1" dirty="0">
                <a:solidFill>
                  <a:srgbClr val="CBD5E1"/>
                </a:solidFill>
                <a:latin typeface="Arial" panose="020B0604020202020204" pitchFamily="34" charset="0"/>
                <a:ea typeface="Arial" panose="020B0604020202020204" pitchFamily="34" charset="-122"/>
                <a:cs typeface="Arial" panose="020B0604020202020204" pitchFamily="34" charset="0"/>
              </a:rPr>
              <a:t>Group Members : -</a:t>
            </a:r>
            <a:endParaRPr lang="en-IN" altLang="en-US" sz="900" b="1" dirty="0">
              <a:solidFill>
                <a:srgbClr val="CBD5E1"/>
              </a:solidFill>
              <a:latin typeface="Arial" panose="020B0604020202020204" pitchFamily="34" charset="0"/>
              <a:ea typeface="Arial" panose="020B0604020202020204" pitchFamily="34" charset="-122"/>
              <a:cs typeface="Arial" panose="020B0604020202020204" pitchFamily="34" charset="0"/>
            </a:endParaRPr>
          </a:p>
          <a:p>
            <a:pPr marL="0" indent="0" algn="l">
              <a:lnSpc>
                <a:spcPct val="15000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Manish</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a:p>
            <a:pPr marL="0" indent="0" algn="l">
              <a:lnSpc>
                <a:spcPct val="15000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Fakuruddin</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a:p>
            <a:pPr marL="0" indent="0" algn="l">
              <a:lnSpc>
                <a:spcPct val="15000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Tirumala Shri Sai Teja</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a:p>
            <a:pPr marL="0" indent="0" algn="l">
              <a:lnSpc>
                <a:spcPct val="15000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Junthula Sai Charan</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a:p>
            <a:pPr marL="0" indent="0" algn="l">
              <a:lnSpc>
                <a:spcPct val="15000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Ganesh</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a:p>
            <a:pPr marL="0" indent="0" algn="l">
              <a:lnSpc>
                <a:spcPct val="15000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Mayuri</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a:p>
            <a:pPr marL="0" indent="0" algn="l">
              <a:lnSpc>
                <a:spcPct val="150000"/>
              </a:lnSpc>
              <a:buNone/>
            </a:pP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a:p>
            <a:pPr marL="0" indent="0" algn="l">
              <a:lnSpc>
                <a:spcPct val="150000"/>
              </a:lnSpc>
              <a:buNone/>
            </a:pP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a:p>
            <a:pPr marL="0" indent="0" algn="l">
              <a:lnSpc>
                <a:spcPts val="2520"/>
              </a:lnSpc>
              <a:buNone/>
            </a:pP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2689860"/>
            <a:ext cx="7924800" cy="412750"/>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Dataset Overview &amp; Quality</a:t>
            </a:r>
            <a:endParaRPr lang="en-US" sz="2700" dirty="0"/>
          </a:p>
        </p:txBody>
      </p:sp>
      <p:sp>
        <p:nvSpPr>
          <p:cNvPr id="4" name="Text 2"/>
          <p:cNvSpPr/>
          <p:nvPr/>
        </p:nvSpPr>
        <p:spPr>
          <a:xfrm>
            <a:off x="914400" y="1173480"/>
            <a:ext cx="7620000" cy="1249680"/>
          </a:xfrm>
          <a:prstGeom prst="rect">
            <a:avLst/>
          </a:prstGeom>
          <a:noFill/>
        </p:spPr>
        <p:txBody>
          <a:bodyPr wrap="square" lIns="0" tIns="0" rIns="0" bIns="0" rtlCol="0" anchor="t"/>
          <a:lstStyle/>
          <a:p>
            <a:pPr marL="0" indent="0">
              <a:lnSpc>
                <a:spcPts val="2160"/>
              </a:lnSpc>
              <a:buSzPct val="100000"/>
              <a:buNone/>
            </a:pPr>
            <a:r>
              <a:rPr lang="en-US" sz="1200" b="1" dirty="0">
                <a:solidFill>
                  <a:srgbClr val="CBD5E1"/>
                </a:solidFill>
                <a:latin typeface="Arial" panose="020B0604020202020204" pitchFamily="34" charset="0"/>
                <a:ea typeface="Arial" panose="020B0604020202020204" pitchFamily="34" charset="-122"/>
                <a:cs typeface="Arial" panose="020B0604020202020204" pitchFamily="34" charset="-120"/>
              </a:rPr>
              <a:t>1</a:t>
            </a:r>
            <a:r>
              <a:rPr lang="en-IN" altLang="en-US" sz="1200" b="1" dirty="0">
                <a:solidFill>
                  <a:srgbClr val="CBD5E1"/>
                </a:solidFill>
                <a:latin typeface="Arial" panose="020B0604020202020204" pitchFamily="34" charset="0"/>
                <a:ea typeface="Arial" panose="020B0604020202020204" pitchFamily="34" charset="-122"/>
                <a:cs typeface="Arial" panose="020B0604020202020204" pitchFamily="34" charset="-120"/>
              </a:rPr>
              <a:t>,</a:t>
            </a:r>
            <a:r>
              <a:rPr lang="en-US" sz="1200" b="1" dirty="0">
                <a:solidFill>
                  <a:srgbClr val="CBD5E1"/>
                </a:solidFill>
                <a:latin typeface="Arial" panose="020B0604020202020204" pitchFamily="34" charset="0"/>
                <a:ea typeface="Arial" panose="020B0604020202020204" pitchFamily="34" charset="-122"/>
                <a:cs typeface="Arial" panose="020B0604020202020204" pitchFamily="34" charset="-120"/>
              </a:rPr>
              <a:t>00,000</a:t>
            </a: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 course enrollment records</a:t>
            </a:r>
            <a:endParaRPr lang="en-US" sz="1200" dirty="0"/>
          </a:p>
          <a:p>
            <a:pPr marL="0" indent="0">
              <a:lnSpc>
                <a:spcPts val="2160"/>
              </a:lnSpc>
              <a:buSzPct val="100000"/>
              <a:buNone/>
            </a:pPr>
            <a:r>
              <a:rPr lang="en-US" sz="1200" b="1" dirty="0">
                <a:solidFill>
                  <a:srgbClr val="CBD5E1"/>
                </a:solidFill>
                <a:latin typeface="Arial" panose="020B0604020202020204" pitchFamily="34" charset="0"/>
                <a:ea typeface="Arial" panose="020B0604020202020204" pitchFamily="34" charset="-122"/>
                <a:cs typeface="Arial" panose="020B0604020202020204" pitchFamily="34" charset="-120"/>
              </a:rPr>
              <a:t>14 features:</a:t>
            </a: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 user_id, course_id, course_name, instructor, duration, rating, price, difficulty, enrollment numbers, feedback score, study materials, time spent, previous courses</a:t>
            </a:r>
            <a:endParaRPr lang="en-US" sz="1200" dirty="0"/>
          </a:p>
          <a:p>
            <a:pPr marL="0" indent="0">
              <a:lnSpc>
                <a:spcPts val="2160"/>
              </a:lnSpc>
              <a:buSzPct val="100000"/>
              <a:buNone/>
            </a:pPr>
            <a:r>
              <a:rPr lang="en-US" sz="1200" b="1" dirty="0">
                <a:solidFill>
                  <a:srgbClr val="CBD5E1"/>
                </a:solidFill>
                <a:latin typeface="Arial" panose="020B0604020202020204" pitchFamily="34" charset="0"/>
                <a:ea typeface="Arial" panose="020B0604020202020204" pitchFamily="34" charset="-122"/>
                <a:cs typeface="Arial" panose="020B0604020202020204" pitchFamily="34" charset="-120"/>
              </a:rPr>
              <a:t>Data Quality:</a:t>
            </a:r>
            <a:r>
              <a:rPr lang="en-US" sz="1200" dirty="0">
                <a:solidFill>
                  <a:srgbClr val="CBD5E1"/>
                </a:solidFill>
                <a:latin typeface="Arial" panose="020B0604020202020204" pitchFamily="34" charset="0"/>
                <a:ea typeface="Arial" panose="020B0604020202020204" pitchFamily="34" charset="-122"/>
                <a:cs typeface="Arial" panose="020B0604020202020204" pitchFamily="34" charset="-120"/>
              </a:rPr>
              <a:t> Zero missing values, zero duplicates, high-quality clean dataset</a:t>
            </a:r>
            <a:endParaRPr lang="en-US" sz="1200" dirty="0"/>
          </a:p>
        </p:txBody>
      </p:sp>
      <p:sp>
        <p:nvSpPr>
          <p:cNvPr id="5" name="Text 3"/>
          <p:cNvSpPr/>
          <p:nvPr/>
        </p:nvSpPr>
        <p:spPr>
          <a:xfrm>
            <a:off x="609600" y="2689860"/>
            <a:ext cx="7924800" cy="667464"/>
          </a:xfrm>
          <a:prstGeom prst="rect">
            <a:avLst/>
          </a:prstGeom>
          <a:noFill/>
        </p:spPr>
        <p:txBody>
          <a:bodyPr wrap="square" lIns="0" tIns="0" rIns="0" bIns="0" rtlCol="0" anchor="t"/>
          <a:lstStyle/>
          <a:p>
            <a:pPr marL="0" indent="0">
              <a:lnSpc>
                <a:spcPts val="1430"/>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Key Insight:</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Clean dataset enables model robustness. No data imputation required—all 100,000 records are complete and valid, reducing preprocessing overhead and improving model reliability.</a:t>
            </a:r>
            <a:endParaRPr lang="en-US" sz="1020" dirty="0"/>
          </a:p>
        </p:txBody>
      </p:sp>
      <p:sp>
        <p:nvSpPr>
          <p:cNvPr id="6" name="Text 1"/>
          <p:cNvSpPr/>
          <p:nvPr/>
        </p:nvSpPr>
        <p:spPr>
          <a:xfrm>
            <a:off x="8856980" y="4705985"/>
            <a:ext cx="207645" cy="320040"/>
          </a:xfrm>
          <a:prstGeom prst="rect">
            <a:avLst/>
          </a:prstGeom>
          <a:noFill/>
        </p:spPr>
        <p:txBody>
          <a:bodyPr wrap="square" lIns="0" tIns="0" rIns="0" bIns="0" rtlCol="0" anchor="t"/>
          <a:lstStyle/>
          <a:p>
            <a:pPr marL="0" indent="0" algn="l">
              <a:lnSpc>
                <a:spcPts val="252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2</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3866515"/>
            <a:ext cx="7924800" cy="429895"/>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Feature Engineering &amp; Encoding</a:t>
            </a:r>
            <a:endParaRPr lang="en-US" sz="2700" dirty="0"/>
          </a:p>
        </p:txBody>
      </p:sp>
      <p:sp>
        <p:nvSpPr>
          <p:cNvPr id="4" name="Text 2"/>
          <p:cNvSpPr/>
          <p:nvPr/>
        </p:nvSpPr>
        <p:spPr>
          <a:xfrm>
            <a:off x="609600" y="1173481"/>
            <a:ext cx="8083296" cy="228600"/>
          </a:xfrm>
          <a:prstGeom prst="rect">
            <a:avLst/>
          </a:prstGeom>
          <a:noFill/>
        </p:spPr>
        <p:txBody>
          <a:bodyPr wrap="square" lIns="0" tIns="0" rIns="0" bIns="0" rtlCol="0" anchor="t"/>
          <a:lstStyle/>
          <a:p>
            <a:pPr marL="0" indent="0">
              <a:lnSpc>
                <a:spcPts val="1800"/>
              </a:lnSpc>
              <a:buNone/>
            </a:pPr>
            <a:r>
              <a:rPr lang="en-US" sz="1500" b="1" dirty="0">
                <a:solidFill>
                  <a:srgbClr val="06B6D4"/>
                </a:solidFill>
                <a:latin typeface="Arial" panose="020B0604020202020204" pitchFamily="34" charset="0"/>
                <a:ea typeface="Arial" panose="020B0604020202020204" pitchFamily="34" charset="-122"/>
                <a:cs typeface="Arial" panose="020B0604020202020204" pitchFamily="34" charset="-120"/>
              </a:rPr>
              <a:t>Why Encoding? (For ML Algorithms)</a:t>
            </a:r>
            <a:endParaRPr lang="en-US" sz="1500" dirty="0"/>
          </a:p>
        </p:txBody>
      </p:sp>
      <p:sp>
        <p:nvSpPr>
          <p:cNvPr id="5" name="Text 3"/>
          <p:cNvSpPr/>
          <p:nvPr/>
        </p:nvSpPr>
        <p:spPr>
          <a:xfrm>
            <a:off x="914400" y="1402081"/>
            <a:ext cx="7620000" cy="872490"/>
          </a:xfrm>
          <a:prstGeom prst="rect">
            <a:avLst/>
          </a:prstGeom>
          <a:noFill/>
        </p:spPr>
        <p:txBody>
          <a:bodyPr wrap="square" lIns="0" tIns="0" rIns="0" bIns="0" rtlCol="0" anchor="t"/>
          <a:lstStyle/>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ML algorithms require numeric input:</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SVD, KNN, and TF-IDF work with numbers, not text</a:t>
            </a:r>
            <a:endParaRPr lang="en-US" sz="1050" dirty="0"/>
          </a:p>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Preserve ordinal relationships:</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Difficulty levels have inherent order (Beginner → Advanced)</a:t>
            </a:r>
            <a:endParaRPr lang="en-US" sz="1050" dirty="0"/>
          </a:p>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Binary consistency:</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Certification and study materials are yes/no flags</a:t>
            </a:r>
            <a:endParaRPr lang="en-US" sz="1050" dirty="0"/>
          </a:p>
        </p:txBody>
      </p:sp>
      <p:sp>
        <p:nvSpPr>
          <p:cNvPr id="6" name="Text 4"/>
          <p:cNvSpPr/>
          <p:nvPr/>
        </p:nvSpPr>
        <p:spPr>
          <a:xfrm>
            <a:off x="609600" y="2462808"/>
            <a:ext cx="8083296" cy="228600"/>
          </a:xfrm>
          <a:prstGeom prst="rect">
            <a:avLst/>
          </a:prstGeom>
          <a:noFill/>
        </p:spPr>
        <p:txBody>
          <a:bodyPr wrap="square" lIns="0" tIns="0" rIns="0" bIns="0" rtlCol="0" anchor="t"/>
          <a:lstStyle/>
          <a:p>
            <a:pPr marL="0" indent="0">
              <a:lnSpc>
                <a:spcPts val="1800"/>
              </a:lnSpc>
              <a:buNone/>
            </a:pPr>
            <a:r>
              <a:rPr lang="en-US" sz="1500" b="1" dirty="0">
                <a:solidFill>
                  <a:srgbClr val="06B6D4"/>
                </a:solidFill>
                <a:latin typeface="Arial" panose="020B0604020202020204" pitchFamily="34" charset="0"/>
                <a:ea typeface="Arial" panose="020B0604020202020204" pitchFamily="34" charset="-122"/>
                <a:cs typeface="Arial" panose="020B0604020202020204" pitchFamily="34" charset="-120"/>
              </a:rPr>
              <a:t>Encoding Implementation</a:t>
            </a:r>
            <a:endParaRPr lang="en-US" sz="1500" dirty="0"/>
          </a:p>
        </p:txBody>
      </p:sp>
      <p:sp>
        <p:nvSpPr>
          <p:cNvPr id="7" name="Text 5"/>
          <p:cNvSpPr/>
          <p:nvPr/>
        </p:nvSpPr>
        <p:spPr>
          <a:xfrm>
            <a:off x="914400" y="2691408"/>
            <a:ext cx="7620000" cy="872490"/>
          </a:xfrm>
          <a:prstGeom prst="rect">
            <a:avLst/>
          </a:prstGeom>
          <a:noFill/>
        </p:spPr>
        <p:txBody>
          <a:bodyPr wrap="square" lIns="0" tIns="0" rIns="0" bIns="0" rtlCol="0" anchor="t"/>
          <a:lstStyle/>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Binary (Yes/No):</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certification_offered, study_material_available → [0, 1]</a:t>
            </a:r>
            <a:endParaRPr lang="en-US" sz="1050" dirty="0"/>
          </a:p>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Ordinal Encoding:</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difficulty_level (Beginner=0, Intermediate=1, Advanced=2)</a:t>
            </a:r>
            <a:endParaRPr lang="en-US" sz="1050" dirty="0"/>
          </a:p>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Text Features:</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Combined course_name + difficulty for TF-IDF vectorization</a:t>
            </a:r>
            <a:endParaRPr lang="en-US" sz="1050" dirty="0"/>
          </a:p>
        </p:txBody>
      </p:sp>
      <p:sp>
        <p:nvSpPr>
          <p:cNvPr id="8" name="Text 6"/>
          <p:cNvSpPr/>
          <p:nvPr/>
        </p:nvSpPr>
        <p:spPr>
          <a:xfrm>
            <a:off x="609600" y="3866436"/>
            <a:ext cx="7924800" cy="667464"/>
          </a:xfrm>
          <a:prstGeom prst="rect">
            <a:avLst/>
          </a:prstGeom>
          <a:noFill/>
        </p:spPr>
        <p:txBody>
          <a:bodyPr wrap="square" lIns="0" tIns="0" rIns="0" bIns="0" rtlCol="0" anchor="t"/>
          <a:lstStyle/>
          <a:p>
            <a:pPr marL="0" indent="0">
              <a:lnSpc>
                <a:spcPts val="1430"/>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Key Insight:</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Ordinal encoding for difficulty preserves ranking important for collaborative filtering. Content-based filtering uses text features without encoding—TF-IDF handles this directly, capturing semantic relationships between courses.</a:t>
            </a:r>
            <a:endParaRPr lang="en-US" sz="1020" dirty="0"/>
          </a:p>
        </p:txBody>
      </p:sp>
      <p:sp>
        <p:nvSpPr>
          <p:cNvPr id="9" name="Text 1"/>
          <p:cNvSpPr/>
          <p:nvPr/>
        </p:nvSpPr>
        <p:spPr>
          <a:xfrm>
            <a:off x="8856980" y="4705985"/>
            <a:ext cx="207645" cy="320040"/>
          </a:xfrm>
          <a:prstGeom prst="rect">
            <a:avLst/>
          </a:prstGeom>
          <a:noFill/>
        </p:spPr>
        <p:txBody>
          <a:bodyPr wrap="square" lIns="0" tIns="0" rIns="0" bIns="0" rtlCol="0" anchor="t"/>
          <a:lstStyle/>
          <a:p>
            <a:pPr marL="0" indent="0" algn="l">
              <a:lnSpc>
                <a:spcPts val="252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3</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3684905"/>
            <a:ext cx="7924800" cy="873125"/>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Distribution Analysis - Histograms</a:t>
            </a:r>
            <a:endParaRPr lang="en-US" sz="2700" dirty="0"/>
          </a:p>
        </p:txBody>
      </p:sp>
      <p:sp>
        <p:nvSpPr>
          <p:cNvPr id="4" name="Text 2"/>
          <p:cNvSpPr/>
          <p:nvPr>
            <p:custDataLst>
              <p:tags r:id="rId1"/>
            </p:custDataLst>
          </p:nvPr>
        </p:nvSpPr>
        <p:spPr>
          <a:xfrm>
            <a:off x="965363" y="1786890"/>
            <a:ext cx="1235559" cy="192550"/>
          </a:xfrm>
          <a:prstGeom prst="rect">
            <a:avLst/>
          </a:prstGeom>
          <a:noFill/>
        </p:spPr>
        <p:txBody>
          <a:bodyPr wrap="square" lIns="0" tIns="0" rIns="0" bIns="0" rtlCol="0" anchor="t"/>
          <a:lstStyle/>
          <a:p>
            <a:pPr marL="0" indent="0" algn="ctr">
              <a:lnSpc>
                <a:spcPts val="1440"/>
              </a:lnSpc>
              <a:buNone/>
            </a:pPr>
            <a:r>
              <a:rPr lang="en-US" sz="1200" b="1" dirty="0">
                <a:solidFill>
                  <a:srgbClr val="38BDF8"/>
                </a:solidFill>
                <a:latin typeface="Arial" panose="020B0604020202020204" pitchFamily="34" charset="0"/>
                <a:ea typeface="Arial" panose="020B0604020202020204" pitchFamily="34" charset="-122"/>
                <a:cs typeface="Arial" panose="020B0604020202020204" pitchFamily="34" charset="-120"/>
              </a:rPr>
              <a:t>Course Price</a:t>
            </a:r>
            <a:endParaRPr lang="en-US" sz="1200" dirty="0"/>
          </a:p>
        </p:txBody>
      </p:sp>
      <p:sp>
        <p:nvSpPr>
          <p:cNvPr id="5" name="Text 3"/>
          <p:cNvSpPr/>
          <p:nvPr>
            <p:custDataLst>
              <p:tags r:id="rId2"/>
            </p:custDataLst>
          </p:nvPr>
        </p:nvSpPr>
        <p:spPr>
          <a:xfrm>
            <a:off x="965363" y="3280840"/>
            <a:ext cx="1235559" cy="157198"/>
          </a:xfrm>
          <a:prstGeom prst="rect">
            <a:avLst/>
          </a:prstGeom>
          <a:noFill/>
        </p:spPr>
        <p:txBody>
          <a:bodyPr wrap="square" lIns="0" tIns="0" rIns="0" bIns="0" rtlCol="0" anchor="t"/>
          <a:lstStyle/>
          <a:p>
            <a:pPr marL="0" indent="0" algn="ctr">
              <a:lnSpc>
                <a:spcPts val="1175"/>
              </a:lnSpc>
              <a:buNone/>
            </a:pPr>
            <a:r>
              <a:rPr lang="en-US" sz="840" dirty="0">
                <a:solidFill>
                  <a:srgbClr val="94A3B8"/>
                </a:solidFill>
                <a:latin typeface="Arial" panose="020B0604020202020204" pitchFamily="34" charset="0"/>
                <a:ea typeface="Arial" panose="020B0604020202020204" pitchFamily="34" charset="-122"/>
                <a:cs typeface="Arial" panose="020B0604020202020204" pitchFamily="34" charset="-120"/>
              </a:rPr>
              <a:t>Uniform spread $0-$400</a:t>
            </a:r>
            <a:endParaRPr lang="en-US" sz="840" dirty="0"/>
          </a:p>
        </p:txBody>
      </p:sp>
      <p:sp>
        <p:nvSpPr>
          <p:cNvPr id="6" name="Text 4"/>
          <p:cNvSpPr/>
          <p:nvPr>
            <p:custDataLst>
              <p:tags r:id="rId3"/>
            </p:custDataLst>
          </p:nvPr>
        </p:nvSpPr>
        <p:spPr>
          <a:xfrm>
            <a:off x="3867518" y="1786890"/>
            <a:ext cx="1082632" cy="192550"/>
          </a:xfrm>
          <a:prstGeom prst="rect">
            <a:avLst/>
          </a:prstGeom>
          <a:noFill/>
        </p:spPr>
        <p:txBody>
          <a:bodyPr wrap="square" lIns="0" tIns="0" rIns="0" bIns="0" rtlCol="0" anchor="t"/>
          <a:lstStyle/>
          <a:p>
            <a:pPr marL="0" indent="0" algn="ctr">
              <a:lnSpc>
                <a:spcPts val="1440"/>
              </a:lnSpc>
              <a:buNone/>
            </a:pPr>
            <a:r>
              <a:rPr lang="en-US" sz="1200" b="1" dirty="0">
                <a:solidFill>
                  <a:srgbClr val="38BDF8"/>
                </a:solidFill>
                <a:latin typeface="Arial" panose="020B0604020202020204" pitchFamily="34" charset="0"/>
                <a:ea typeface="Arial" panose="020B0604020202020204" pitchFamily="34" charset="-122"/>
                <a:cs typeface="Arial" panose="020B0604020202020204" pitchFamily="34" charset="-120"/>
              </a:rPr>
              <a:t>Ratings</a:t>
            </a:r>
            <a:endParaRPr lang="en-US" sz="1200" dirty="0"/>
          </a:p>
        </p:txBody>
      </p:sp>
      <p:sp>
        <p:nvSpPr>
          <p:cNvPr id="7" name="Text 5"/>
          <p:cNvSpPr/>
          <p:nvPr>
            <p:custDataLst>
              <p:tags r:id="rId4"/>
            </p:custDataLst>
          </p:nvPr>
        </p:nvSpPr>
        <p:spPr>
          <a:xfrm>
            <a:off x="3867518" y="3280840"/>
            <a:ext cx="1082632" cy="157198"/>
          </a:xfrm>
          <a:prstGeom prst="rect">
            <a:avLst/>
          </a:prstGeom>
          <a:noFill/>
        </p:spPr>
        <p:txBody>
          <a:bodyPr wrap="square" lIns="0" tIns="0" rIns="0" bIns="0" rtlCol="0" anchor="t"/>
          <a:lstStyle/>
          <a:p>
            <a:pPr marL="0" indent="0" algn="ctr">
              <a:lnSpc>
                <a:spcPts val="1175"/>
              </a:lnSpc>
              <a:buNone/>
            </a:pPr>
            <a:r>
              <a:rPr lang="en-US" sz="840" dirty="0">
                <a:solidFill>
                  <a:srgbClr val="94A3B8"/>
                </a:solidFill>
                <a:latin typeface="Arial" panose="020B0604020202020204" pitchFamily="34" charset="0"/>
                <a:ea typeface="Arial" panose="020B0604020202020204" pitchFamily="34" charset="-122"/>
                <a:cs typeface="Arial" panose="020B0604020202020204" pitchFamily="34" charset="-120"/>
              </a:rPr>
              <a:t>Left-skewed (1.0-5.0)</a:t>
            </a:r>
            <a:endParaRPr lang="en-US" sz="840" dirty="0"/>
          </a:p>
        </p:txBody>
      </p:sp>
      <p:sp>
        <p:nvSpPr>
          <p:cNvPr id="8" name="Text 6"/>
          <p:cNvSpPr/>
          <p:nvPr>
            <p:custDataLst>
              <p:tags r:id="rId5"/>
            </p:custDataLst>
          </p:nvPr>
        </p:nvSpPr>
        <p:spPr>
          <a:xfrm>
            <a:off x="6618829" y="1786890"/>
            <a:ext cx="1022920" cy="192550"/>
          </a:xfrm>
          <a:prstGeom prst="rect">
            <a:avLst/>
          </a:prstGeom>
          <a:noFill/>
        </p:spPr>
        <p:txBody>
          <a:bodyPr wrap="square" lIns="0" tIns="0" rIns="0" bIns="0" rtlCol="0" anchor="t"/>
          <a:lstStyle/>
          <a:p>
            <a:pPr marL="0" indent="0" algn="ctr">
              <a:lnSpc>
                <a:spcPts val="1440"/>
              </a:lnSpc>
              <a:buNone/>
            </a:pPr>
            <a:r>
              <a:rPr lang="en-US" sz="1200" b="1" dirty="0">
                <a:solidFill>
                  <a:srgbClr val="38BDF8"/>
                </a:solidFill>
                <a:latin typeface="Arial" panose="020B0604020202020204" pitchFamily="34" charset="0"/>
                <a:ea typeface="Arial" panose="020B0604020202020204" pitchFamily="34" charset="-122"/>
                <a:cs typeface="Arial" panose="020B0604020202020204" pitchFamily="34" charset="-120"/>
              </a:rPr>
              <a:t>Time Spent</a:t>
            </a:r>
            <a:endParaRPr lang="en-US" sz="1200" dirty="0"/>
          </a:p>
        </p:txBody>
      </p:sp>
      <p:sp>
        <p:nvSpPr>
          <p:cNvPr id="9" name="Text 7"/>
          <p:cNvSpPr/>
          <p:nvPr>
            <p:custDataLst>
              <p:tags r:id="rId6"/>
            </p:custDataLst>
          </p:nvPr>
        </p:nvSpPr>
        <p:spPr>
          <a:xfrm>
            <a:off x="6618829" y="3280840"/>
            <a:ext cx="1022920" cy="157198"/>
          </a:xfrm>
          <a:prstGeom prst="rect">
            <a:avLst/>
          </a:prstGeom>
          <a:noFill/>
        </p:spPr>
        <p:txBody>
          <a:bodyPr wrap="square" lIns="0" tIns="0" rIns="0" bIns="0" rtlCol="0" anchor="t"/>
          <a:lstStyle/>
          <a:p>
            <a:pPr marL="0" indent="0" algn="ctr">
              <a:lnSpc>
                <a:spcPts val="1175"/>
              </a:lnSpc>
              <a:buNone/>
            </a:pPr>
            <a:r>
              <a:rPr lang="en-IN" altLang="en-US" sz="840" dirty="0">
                <a:solidFill>
                  <a:srgbClr val="94A3B8"/>
                </a:solidFill>
                <a:latin typeface="Arial" panose="020B0604020202020204" pitchFamily="34" charset="0"/>
                <a:ea typeface="Arial" panose="020B0604020202020204" pitchFamily="34" charset="-122"/>
                <a:cs typeface="Arial" panose="020B0604020202020204" pitchFamily="34" charset="-120"/>
              </a:rPr>
              <a:t>Right-skewed</a:t>
            </a:r>
            <a:endParaRPr lang="en-IN" altLang="en-US" sz="840" dirty="0">
              <a:solidFill>
                <a:srgbClr val="94A3B8"/>
              </a:solidFill>
              <a:latin typeface="Arial" panose="020B0604020202020204" pitchFamily="34" charset="0"/>
              <a:ea typeface="Arial" panose="020B0604020202020204" pitchFamily="34" charset="-122"/>
              <a:cs typeface="Arial" panose="020B0604020202020204" pitchFamily="34" charset="-120"/>
            </a:endParaRPr>
          </a:p>
        </p:txBody>
      </p:sp>
      <p:sp>
        <p:nvSpPr>
          <p:cNvPr id="10" name="Text 8"/>
          <p:cNvSpPr/>
          <p:nvPr/>
        </p:nvSpPr>
        <p:spPr>
          <a:xfrm>
            <a:off x="609600" y="3700978"/>
            <a:ext cx="7924800" cy="848797"/>
          </a:xfrm>
          <a:prstGeom prst="rect">
            <a:avLst/>
          </a:prstGeom>
          <a:noFill/>
        </p:spPr>
        <p:txBody>
          <a:bodyPr wrap="square" lIns="0" tIns="0" rIns="0" bIns="0" rtlCol="0" anchor="t"/>
          <a:lstStyle/>
          <a:p>
            <a:pPr marL="0" indent="0">
              <a:lnSpc>
                <a:spcPts val="1430"/>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Histogram Insights:</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Course prices </a:t>
            </a:r>
            <a:r>
              <a:rPr lang="en-IN" alt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Course duration &amp; Enrollment numbers </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are uniformly distributed. Ratings</a:t>
            </a:r>
            <a:r>
              <a:rPr lang="en-IN" alt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&amp; Feedback score</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show LEFT SKEW (users prefer high-quality courses). Time spent</a:t>
            </a:r>
            <a:r>
              <a:rPr lang="en-IN" alt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&amp; Previous course taken</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follows </a:t>
            </a:r>
            <a:r>
              <a:rPr lang="en-IN" alt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RIGHT SKEWED</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distribution, indicating typical learning engagement patterns. These distributions inform model training—ratings skew suggests recommendation models should capture quality preferences strongly.</a:t>
            </a:r>
            <a:endParaRPr lang="en-US" sz="1020" dirty="0"/>
          </a:p>
        </p:txBody>
      </p:sp>
      <p:pic>
        <p:nvPicPr>
          <p:cNvPr id="12" name="Picture 11"/>
          <p:cNvPicPr>
            <a:picLocks noChangeAspect="1"/>
          </p:cNvPicPr>
          <p:nvPr>
            <p:custDataLst>
              <p:tags r:id="rId7"/>
            </p:custDataLst>
          </p:nvPr>
        </p:nvPicPr>
        <p:blipFill>
          <a:blip r:embed="rId8"/>
          <a:srcRect l="2481" r="86212"/>
          <a:stretch>
            <a:fillRect/>
          </a:stretch>
        </p:blipFill>
        <p:spPr>
          <a:xfrm>
            <a:off x="1024255" y="2075815"/>
            <a:ext cx="1117600" cy="1205230"/>
          </a:xfrm>
          <a:prstGeom prst="rect">
            <a:avLst/>
          </a:prstGeom>
        </p:spPr>
      </p:pic>
      <p:pic>
        <p:nvPicPr>
          <p:cNvPr id="13" name="Picture 12"/>
          <p:cNvPicPr>
            <a:picLocks noChangeAspect="1"/>
          </p:cNvPicPr>
          <p:nvPr>
            <p:custDataLst>
              <p:tags r:id="rId9"/>
            </p:custDataLst>
          </p:nvPr>
        </p:nvPicPr>
        <p:blipFill>
          <a:blip r:embed="rId8"/>
          <a:srcRect l="47242" r="39656"/>
          <a:stretch>
            <a:fillRect/>
          </a:stretch>
        </p:blipFill>
        <p:spPr>
          <a:xfrm flipH="1">
            <a:off x="3867785" y="2080260"/>
            <a:ext cx="1057910" cy="1099820"/>
          </a:xfrm>
          <a:prstGeom prst="rect">
            <a:avLst/>
          </a:prstGeom>
        </p:spPr>
      </p:pic>
      <p:pic>
        <p:nvPicPr>
          <p:cNvPr id="14" name="Picture 13"/>
          <p:cNvPicPr>
            <a:picLocks noChangeAspect="1"/>
          </p:cNvPicPr>
          <p:nvPr>
            <p:custDataLst>
              <p:tags r:id="rId10"/>
            </p:custDataLst>
          </p:nvPr>
        </p:nvPicPr>
        <p:blipFill>
          <a:blip r:embed="rId8"/>
          <a:srcRect l="89268" t="7912" r="1569" b="9533"/>
          <a:stretch>
            <a:fillRect/>
          </a:stretch>
        </p:blipFill>
        <p:spPr>
          <a:xfrm>
            <a:off x="6640830" y="2080260"/>
            <a:ext cx="986155" cy="1083945"/>
          </a:xfrm>
          <a:prstGeom prst="rect">
            <a:avLst/>
          </a:prstGeom>
        </p:spPr>
      </p:pic>
      <p:sp>
        <p:nvSpPr>
          <p:cNvPr id="11" name="Text 1"/>
          <p:cNvSpPr/>
          <p:nvPr/>
        </p:nvSpPr>
        <p:spPr>
          <a:xfrm>
            <a:off x="8856980" y="4705985"/>
            <a:ext cx="207645" cy="320040"/>
          </a:xfrm>
          <a:prstGeom prst="rect">
            <a:avLst/>
          </a:prstGeom>
          <a:noFill/>
        </p:spPr>
        <p:txBody>
          <a:bodyPr wrap="square" lIns="0" tIns="0" rIns="0" bIns="0" rtlCol="0" anchor="t"/>
          <a:lstStyle/>
          <a:p>
            <a:pPr marL="0" indent="0" algn="l">
              <a:lnSpc>
                <a:spcPts val="252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4</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3503930"/>
            <a:ext cx="7924800" cy="602615"/>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Category Visualization - Difficulty Levels</a:t>
            </a:r>
            <a:endParaRPr lang="en-US" sz="2700" dirty="0"/>
          </a:p>
        </p:txBody>
      </p:sp>
      <p:sp>
        <p:nvSpPr>
          <p:cNvPr id="4" name="Text 2"/>
          <p:cNvSpPr/>
          <p:nvPr/>
        </p:nvSpPr>
        <p:spPr>
          <a:xfrm>
            <a:off x="609600" y="3503772"/>
            <a:ext cx="7924800" cy="1030129"/>
          </a:xfrm>
          <a:prstGeom prst="rect">
            <a:avLst/>
          </a:prstGeom>
          <a:noFill/>
        </p:spPr>
        <p:txBody>
          <a:bodyPr wrap="square" lIns="0" tIns="0" rIns="0" bIns="0" rtlCol="0" anchor="t"/>
          <a:lstStyle/>
          <a:p>
            <a:pPr marL="0" indent="0">
              <a:lnSpc>
                <a:spcPts val="1430"/>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Category Insights:</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Beginner courses dominate at 42%—high demand for foundational learning. Intermediate courses (32%) show steady adoption. Advanced courses underutilized (26%)—opportunity to promote advanced skills. Bar heights reveal market segmentation: most learners are beginners or intermediate. Recommendation system should balance content across difficulty levels to encourage progression.</a:t>
            </a:r>
            <a:endParaRPr lang="en-US" sz="1020" dirty="0"/>
          </a:p>
        </p:txBody>
      </p:sp>
      <p:pic>
        <p:nvPicPr>
          <p:cNvPr id="5" name="Picture 4"/>
          <p:cNvPicPr>
            <a:picLocks noChangeAspect="1"/>
          </p:cNvPicPr>
          <p:nvPr/>
        </p:nvPicPr>
        <p:blipFill>
          <a:blip r:embed="rId1"/>
          <a:srcRect t="9524" b="6496"/>
          <a:stretch>
            <a:fillRect/>
          </a:stretch>
        </p:blipFill>
        <p:spPr>
          <a:xfrm>
            <a:off x="2275205" y="1126490"/>
            <a:ext cx="3986530" cy="2162810"/>
          </a:xfrm>
          <a:prstGeom prst="rect">
            <a:avLst/>
          </a:prstGeom>
        </p:spPr>
      </p:pic>
      <p:sp>
        <p:nvSpPr>
          <p:cNvPr id="6" name="Text 1"/>
          <p:cNvSpPr/>
          <p:nvPr/>
        </p:nvSpPr>
        <p:spPr>
          <a:xfrm>
            <a:off x="8856980" y="4705985"/>
            <a:ext cx="207645" cy="320040"/>
          </a:xfrm>
          <a:prstGeom prst="rect">
            <a:avLst/>
          </a:prstGeom>
          <a:noFill/>
        </p:spPr>
        <p:txBody>
          <a:bodyPr wrap="square" lIns="0" tIns="0" rIns="0" bIns="0" rtlCol="0" anchor="t"/>
          <a:lstStyle/>
          <a:p>
            <a:pPr marL="0" indent="0" algn="l">
              <a:lnSpc>
                <a:spcPts val="252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5</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3901440"/>
            <a:ext cx="7924800" cy="986155"/>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Correlation Matrix Analysis</a:t>
            </a:r>
            <a:endParaRPr lang="en-US" sz="2700" dirty="0"/>
          </a:p>
        </p:txBody>
      </p:sp>
      <p:sp>
        <p:nvSpPr>
          <p:cNvPr id="4" name="Text 2"/>
          <p:cNvSpPr/>
          <p:nvPr/>
        </p:nvSpPr>
        <p:spPr>
          <a:xfrm>
            <a:off x="609600" y="1173480"/>
            <a:ext cx="8083296" cy="201097"/>
          </a:xfrm>
          <a:prstGeom prst="rect">
            <a:avLst/>
          </a:prstGeom>
          <a:noFill/>
        </p:spPr>
        <p:txBody>
          <a:bodyPr wrap="square" lIns="0" tIns="0" rIns="0" bIns="0" rtlCol="0" anchor="t"/>
          <a:lstStyle/>
          <a:p>
            <a:pPr marL="0" indent="0">
              <a:lnSpc>
                <a:spcPts val="1585"/>
              </a:lnSpc>
              <a:buNone/>
            </a:pPr>
            <a:r>
              <a:rPr lang="en-US" sz="1320" b="1" dirty="0">
                <a:solidFill>
                  <a:srgbClr val="06B6D4"/>
                </a:solidFill>
                <a:latin typeface="Arial" panose="020B0604020202020204" pitchFamily="34" charset="0"/>
                <a:ea typeface="Arial" panose="020B0604020202020204" pitchFamily="34" charset="-122"/>
                <a:cs typeface="Arial" panose="020B0604020202020204" pitchFamily="34" charset="-120"/>
              </a:rPr>
              <a:t>Key Correlations Discovered</a:t>
            </a:r>
            <a:endParaRPr lang="en-US" sz="1320" dirty="0"/>
          </a:p>
        </p:txBody>
      </p:sp>
      <p:sp>
        <p:nvSpPr>
          <p:cNvPr id="5" name="Text 3"/>
          <p:cNvSpPr/>
          <p:nvPr/>
        </p:nvSpPr>
        <p:spPr>
          <a:xfrm>
            <a:off x="628015" y="1374775"/>
            <a:ext cx="4149725" cy="1188720"/>
          </a:xfrm>
          <a:prstGeom prst="rect">
            <a:avLst/>
          </a:prstGeom>
          <a:noFill/>
        </p:spPr>
        <p:txBody>
          <a:bodyPr wrap="square" lIns="0" tIns="0" rIns="0" bIns="0" rtlCol="0" anchor="t"/>
          <a:lstStyle/>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Price ↔ Rating:</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Near-zero (</a:t>
            </a:r>
            <a:r>
              <a:rPr lang="en-IN" alt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-0.0014</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)—High price ≠ high quality</a:t>
            </a:r>
            <a:endParaRPr lang="en-US" sz="1050" dirty="0"/>
          </a:p>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Duration ↔ Rating:</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Minimal (0.0016)—Course length doesn't predict satisfaction</a:t>
            </a:r>
            <a:endParaRPr lang="en-US" sz="1050" dirty="0"/>
          </a:p>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Enrollment ↔ Rating:</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Weak (-0.0011)—Popular courses aren't always better-rated</a:t>
            </a:r>
            <a:endParaRPr lang="en-US" sz="1050" dirty="0"/>
          </a:p>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Time Spent ↔ Rating:</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Weak (0.002)—Effort correlates minimally with satisfaction</a:t>
            </a:r>
            <a:endParaRPr lang="en-US" sz="1050" dirty="0"/>
          </a:p>
        </p:txBody>
      </p:sp>
      <p:sp>
        <p:nvSpPr>
          <p:cNvPr id="6" name="Text 4"/>
          <p:cNvSpPr/>
          <p:nvPr/>
        </p:nvSpPr>
        <p:spPr>
          <a:xfrm>
            <a:off x="609600" y="3916799"/>
            <a:ext cx="7924800" cy="1211461"/>
          </a:xfrm>
          <a:prstGeom prst="rect">
            <a:avLst/>
          </a:prstGeom>
          <a:noFill/>
        </p:spPr>
        <p:txBody>
          <a:bodyPr wrap="square" lIns="0" tIns="0" rIns="0" bIns="0" rtlCol="0" anchor="t"/>
          <a:lstStyle/>
          <a:p>
            <a:pPr marL="0" indent="0">
              <a:lnSpc>
                <a:spcPts val="1430"/>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Correlation Insights:</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The correlation matrix shows near-ZERO correlations across all numeric features—this is crucial for ML</a:t>
            </a:r>
            <a:r>
              <a:rPr lang="en-IN" alt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Low multicollinearity means features are independent, reducing overfitting risk in SVD and collaborative filtering. The weak price-rating relationship contradicts conventional wisdom: expensive courses aren't inherently better. This suggests recommendation systems must focus on content quality and learner preferences, not price. Why this matters: SVD factorization benefits from independent features; high collinearity would compress information redundantly, degrading latent factor quality.</a:t>
            </a:r>
            <a:endParaRPr lang="en-US" sz="1020" dirty="0"/>
          </a:p>
        </p:txBody>
      </p:sp>
      <p:pic>
        <p:nvPicPr>
          <p:cNvPr id="7" name="Picture 6" descr="download"/>
          <p:cNvPicPr>
            <a:picLocks noChangeAspect="1"/>
          </p:cNvPicPr>
          <p:nvPr/>
        </p:nvPicPr>
        <p:blipFill>
          <a:blip r:embed="rId1"/>
          <a:srcRect t="3640"/>
          <a:stretch>
            <a:fillRect/>
          </a:stretch>
        </p:blipFill>
        <p:spPr>
          <a:xfrm>
            <a:off x="5349240" y="1014730"/>
            <a:ext cx="3185160" cy="2792095"/>
          </a:xfrm>
          <a:prstGeom prst="rect">
            <a:avLst/>
          </a:prstGeom>
        </p:spPr>
      </p:pic>
      <p:sp>
        <p:nvSpPr>
          <p:cNvPr id="8" name="Text 1"/>
          <p:cNvSpPr/>
          <p:nvPr/>
        </p:nvSpPr>
        <p:spPr>
          <a:xfrm>
            <a:off x="8856980" y="4705985"/>
            <a:ext cx="207645" cy="320040"/>
          </a:xfrm>
          <a:prstGeom prst="rect">
            <a:avLst/>
          </a:prstGeom>
          <a:noFill/>
        </p:spPr>
        <p:txBody>
          <a:bodyPr wrap="square" lIns="0" tIns="0" rIns="0" bIns="0" rtlCol="0" anchor="t"/>
          <a:lstStyle/>
          <a:p>
            <a:pPr marL="0" indent="0" algn="l">
              <a:lnSpc>
                <a:spcPts val="252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5</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3762375"/>
            <a:ext cx="7924800" cy="845185"/>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SVD: Singular Value Decomposition</a:t>
            </a:r>
            <a:endParaRPr lang="en-US" sz="2700" dirty="0"/>
          </a:p>
        </p:txBody>
      </p:sp>
      <p:sp>
        <p:nvSpPr>
          <p:cNvPr id="4" name="Text 2"/>
          <p:cNvSpPr/>
          <p:nvPr/>
        </p:nvSpPr>
        <p:spPr>
          <a:xfrm>
            <a:off x="609600" y="1173480"/>
            <a:ext cx="8083296" cy="201097"/>
          </a:xfrm>
          <a:prstGeom prst="rect">
            <a:avLst/>
          </a:prstGeom>
          <a:noFill/>
        </p:spPr>
        <p:txBody>
          <a:bodyPr wrap="square" lIns="0" tIns="0" rIns="0" bIns="0" rtlCol="0" anchor="t"/>
          <a:lstStyle/>
          <a:p>
            <a:pPr marL="0" indent="0">
              <a:lnSpc>
                <a:spcPts val="1585"/>
              </a:lnSpc>
              <a:buNone/>
            </a:pPr>
            <a:r>
              <a:rPr lang="en-US" sz="1320" b="1" dirty="0">
                <a:solidFill>
                  <a:srgbClr val="06B6D4"/>
                </a:solidFill>
                <a:latin typeface="Arial" panose="020B0604020202020204" pitchFamily="34" charset="0"/>
                <a:ea typeface="Arial" panose="020B0604020202020204" pitchFamily="34" charset="-122"/>
                <a:cs typeface="Arial" panose="020B0604020202020204" pitchFamily="34" charset="-120"/>
              </a:rPr>
              <a:t>❓ Why SVD?</a:t>
            </a:r>
            <a:endParaRPr lang="en-US" sz="1320" dirty="0"/>
          </a:p>
        </p:txBody>
      </p:sp>
      <p:sp>
        <p:nvSpPr>
          <p:cNvPr id="5" name="Text 3"/>
          <p:cNvSpPr/>
          <p:nvPr/>
        </p:nvSpPr>
        <p:spPr>
          <a:xfrm>
            <a:off x="914400" y="1374577"/>
            <a:ext cx="7620000" cy="872490"/>
          </a:xfrm>
          <a:prstGeom prst="rect">
            <a:avLst/>
          </a:prstGeom>
          <a:noFill/>
        </p:spPr>
        <p:txBody>
          <a:bodyPr wrap="square" lIns="0" tIns="0" rIns="0" bIns="0" rtlCol="0" anchor="t"/>
          <a:lstStyle/>
          <a:p>
            <a:pPr marL="0" indent="0">
              <a:lnSpc>
                <a:spcPts val="1890"/>
              </a:lnSpc>
              <a:buSzPct val="100000"/>
              <a:buNone/>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Discovers </a:t>
            </a: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latent factors</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hidden patterns in user-course preferences</a:t>
            </a:r>
            <a:endParaRPr lang="en-US" sz="1050" dirty="0"/>
          </a:p>
          <a:p>
            <a:pPr marL="0" indent="0">
              <a:lnSpc>
                <a:spcPts val="1890"/>
              </a:lnSpc>
              <a:buSzPct val="100000"/>
              <a:buNone/>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Handles </a:t>
            </a: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sparse data:</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users rate few courses; SVD infers missing ratings</a:t>
            </a:r>
            <a:endParaRPr lang="en-US" sz="1050" dirty="0"/>
          </a:p>
          <a:p>
            <a:pPr marL="0" indent="0">
              <a:lnSpc>
                <a:spcPts val="1890"/>
              </a:lnSpc>
              <a:buSzPct val="100000"/>
              <a:buNone/>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Reduces </a:t>
            </a: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dimensionality:</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100,000 users × 10,000 courses → 50 latent factors</a:t>
            </a:r>
            <a:endParaRPr lang="en-US" sz="1050" dirty="0"/>
          </a:p>
        </p:txBody>
      </p:sp>
      <p:sp>
        <p:nvSpPr>
          <p:cNvPr id="6" name="Text 4"/>
          <p:cNvSpPr/>
          <p:nvPr/>
        </p:nvSpPr>
        <p:spPr>
          <a:xfrm>
            <a:off x="609600" y="2399467"/>
            <a:ext cx="8083296" cy="201097"/>
          </a:xfrm>
          <a:prstGeom prst="rect">
            <a:avLst/>
          </a:prstGeom>
          <a:noFill/>
        </p:spPr>
        <p:txBody>
          <a:bodyPr wrap="square" lIns="0" tIns="0" rIns="0" bIns="0" rtlCol="0" anchor="t"/>
          <a:lstStyle/>
          <a:p>
            <a:pPr marL="0" indent="0">
              <a:lnSpc>
                <a:spcPts val="1585"/>
              </a:lnSpc>
              <a:buNone/>
            </a:pPr>
            <a:r>
              <a:rPr lang="en-US" sz="1320" b="1" dirty="0">
                <a:solidFill>
                  <a:srgbClr val="06B6D4"/>
                </a:solidFill>
                <a:latin typeface="Arial" panose="020B0604020202020204" pitchFamily="34" charset="0"/>
                <a:ea typeface="Arial" panose="020B0604020202020204" pitchFamily="34" charset="-122"/>
                <a:cs typeface="Arial" panose="020B0604020202020204" pitchFamily="34" charset="-120"/>
              </a:rPr>
              <a:t>⚙️ How Implemented</a:t>
            </a:r>
            <a:endParaRPr lang="en-US" sz="1320" dirty="0"/>
          </a:p>
        </p:txBody>
      </p:sp>
      <p:sp>
        <p:nvSpPr>
          <p:cNvPr id="7" name="Text 5"/>
          <p:cNvSpPr/>
          <p:nvPr/>
        </p:nvSpPr>
        <p:spPr>
          <a:xfrm>
            <a:off x="914400" y="2600565"/>
            <a:ext cx="7620000" cy="1188720"/>
          </a:xfrm>
          <a:prstGeom prst="rect">
            <a:avLst/>
          </a:prstGeom>
          <a:noFill/>
        </p:spPr>
        <p:txBody>
          <a:bodyPr wrap="square" lIns="0" tIns="0" rIns="0" bIns="0" rtlCol="0" anchor="t"/>
          <a:lstStyle/>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Dataset: User-Course-Rating matrix (100k × 10k sparse)</a:t>
            </a:r>
            <a:endParaRPr lang="en-US" sz="1050" dirty="0"/>
          </a:p>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50 latent factors capture hidden user-course relationships</a:t>
            </a:r>
            <a:endParaRPr lang="en-US" sz="1050" dirty="0"/>
          </a:p>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Trained on 80%, tested on 20% (random_state=42)</a:t>
            </a:r>
            <a:endParaRPr lang="en-US" sz="1050" dirty="0"/>
          </a:p>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RMSE: 0.7423 | MAE: 0.6095 (strong predictive power)</a:t>
            </a:r>
            <a:endParaRPr lang="en-US" sz="1050" dirty="0"/>
          </a:p>
        </p:txBody>
      </p:sp>
      <p:sp>
        <p:nvSpPr>
          <p:cNvPr id="8" name="Text 6"/>
          <p:cNvSpPr/>
          <p:nvPr/>
        </p:nvSpPr>
        <p:spPr>
          <a:xfrm>
            <a:off x="609600" y="3790553"/>
            <a:ext cx="7924800" cy="1030129"/>
          </a:xfrm>
          <a:prstGeom prst="rect">
            <a:avLst/>
          </a:prstGeom>
          <a:noFill/>
        </p:spPr>
        <p:txBody>
          <a:bodyPr wrap="square" lIns="0" tIns="0" rIns="0" bIns="0" rtlCol="0" anchor="t"/>
          <a:lstStyle/>
          <a:p>
            <a:pPr marL="0" indent="0">
              <a:lnSpc>
                <a:spcPts val="1430"/>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SVD Mechanism:</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SVD factorizes the rating matrix into U (user factors) × Σ (singular values) × V^T (course factors). Singular values weighted by importance—top 50 capture ~95% of variance. Small σ values indicate noise, discarded. Output: predicted ratings for unrated courses. Why this works: SVD assumes user preferences decompose into independent factors (e.g., "prefers technical content" or "values certifications")—these 50 factors capture learner profiles and course characteristics.</a:t>
            </a:r>
            <a:endParaRPr lang="en-US" sz="1020" dirty="0"/>
          </a:p>
        </p:txBody>
      </p:sp>
      <p:sp>
        <p:nvSpPr>
          <p:cNvPr id="9" name="Text 1"/>
          <p:cNvSpPr/>
          <p:nvPr/>
        </p:nvSpPr>
        <p:spPr>
          <a:xfrm>
            <a:off x="8856980" y="4705985"/>
            <a:ext cx="207645" cy="320040"/>
          </a:xfrm>
          <a:prstGeom prst="rect">
            <a:avLst/>
          </a:prstGeom>
          <a:noFill/>
        </p:spPr>
        <p:txBody>
          <a:bodyPr wrap="square" lIns="0" tIns="0" rIns="0" bIns="0" rtlCol="0" anchor="t"/>
          <a:lstStyle/>
          <a:p>
            <a:pPr marL="0" indent="0" algn="l">
              <a:lnSpc>
                <a:spcPts val="252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6</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3819525"/>
            <a:ext cx="7924800" cy="781050"/>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Item-Based Collaborative Filtering (KNN)</a:t>
            </a:r>
            <a:endParaRPr lang="en-US" sz="2700" dirty="0"/>
          </a:p>
        </p:txBody>
      </p:sp>
      <p:sp>
        <p:nvSpPr>
          <p:cNvPr id="4" name="Text 2"/>
          <p:cNvSpPr/>
          <p:nvPr/>
        </p:nvSpPr>
        <p:spPr>
          <a:xfrm>
            <a:off x="609600" y="1173480"/>
            <a:ext cx="8083296" cy="201097"/>
          </a:xfrm>
          <a:prstGeom prst="rect">
            <a:avLst/>
          </a:prstGeom>
          <a:noFill/>
        </p:spPr>
        <p:txBody>
          <a:bodyPr wrap="square" lIns="0" tIns="0" rIns="0" bIns="0" rtlCol="0" anchor="t"/>
          <a:lstStyle/>
          <a:p>
            <a:pPr marL="0" indent="0">
              <a:lnSpc>
                <a:spcPts val="1585"/>
              </a:lnSpc>
              <a:buNone/>
            </a:pPr>
            <a:r>
              <a:rPr lang="en-US" sz="1320" b="1" dirty="0">
                <a:solidFill>
                  <a:srgbClr val="06B6D4"/>
                </a:solidFill>
                <a:latin typeface="Arial" panose="020B0604020202020204" pitchFamily="34" charset="0"/>
                <a:ea typeface="Arial" panose="020B0604020202020204" pitchFamily="34" charset="-122"/>
                <a:cs typeface="Arial" panose="020B0604020202020204" pitchFamily="34" charset="-120"/>
              </a:rPr>
              <a:t>❓ Why Item-Based CF?</a:t>
            </a:r>
            <a:endParaRPr lang="en-US" sz="1320" dirty="0"/>
          </a:p>
        </p:txBody>
      </p:sp>
      <p:sp>
        <p:nvSpPr>
          <p:cNvPr id="5" name="Text 3"/>
          <p:cNvSpPr/>
          <p:nvPr/>
        </p:nvSpPr>
        <p:spPr>
          <a:xfrm>
            <a:off x="914400" y="1374577"/>
            <a:ext cx="7620000" cy="872490"/>
          </a:xfrm>
          <a:prstGeom prst="rect">
            <a:avLst/>
          </a:prstGeom>
          <a:noFill/>
        </p:spPr>
        <p:txBody>
          <a:bodyPr wrap="square" lIns="0" tIns="0" rIns="0" bIns="0" rtlCol="0" anchor="t"/>
          <a:lstStyle/>
          <a:p>
            <a:pPr marL="0" indent="0">
              <a:lnSpc>
                <a:spcPts val="1890"/>
              </a:lnSpc>
              <a:buSzPct val="100000"/>
              <a:buNone/>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Finds </a:t>
            </a: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similar courses:</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"If you liked Course A, you'll like Course B"</a:t>
            </a:r>
            <a:endParaRPr lang="en-US" sz="1050" dirty="0"/>
          </a:p>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Interpretable:</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Easy to explain recommendations to users</a:t>
            </a:r>
            <a:endParaRPr lang="en-US" sz="1050" dirty="0"/>
          </a:p>
          <a:p>
            <a:pPr marL="0" indent="0">
              <a:lnSpc>
                <a:spcPts val="1890"/>
              </a:lnSpc>
              <a:buSzPct val="100000"/>
              <a:buNone/>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Handles </a:t>
            </a: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cold-start (new users)</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similarity based on course features, not user history</a:t>
            </a:r>
            <a:endParaRPr lang="en-US" sz="1050" dirty="0"/>
          </a:p>
        </p:txBody>
      </p:sp>
      <p:sp>
        <p:nvSpPr>
          <p:cNvPr id="6" name="Text 4"/>
          <p:cNvSpPr/>
          <p:nvPr/>
        </p:nvSpPr>
        <p:spPr>
          <a:xfrm>
            <a:off x="609600" y="2399467"/>
            <a:ext cx="8083296" cy="201097"/>
          </a:xfrm>
          <a:prstGeom prst="rect">
            <a:avLst/>
          </a:prstGeom>
          <a:noFill/>
        </p:spPr>
        <p:txBody>
          <a:bodyPr wrap="square" lIns="0" tIns="0" rIns="0" bIns="0" rtlCol="0" anchor="t"/>
          <a:lstStyle/>
          <a:p>
            <a:pPr marL="0" indent="0">
              <a:lnSpc>
                <a:spcPts val="1585"/>
              </a:lnSpc>
              <a:buNone/>
            </a:pPr>
            <a:r>
              <a:rPr lang="en-US" sz="1320" b="1" dirty="0">
                <a:solidFill>
                  <a:srgbClr val="06B6D4"/>
                </a:solidFill>
                <a:latin typeface="Arial" panose="020B0604020202020204" pitchFamily="34" charset="0"/>
                <a:ea typeface="Arial" panose="020B0604020202020204" pitchFamily="34" charset="-122"/>
                <a:cs typeface="Arial" panose="020B0604020202020204" pitchFamily="34" charset="-120"/>
              </a:rPr>
              <a:t>⚙️ How Implemented</a:t>
            </a:r>
            <a:endParaRPr lang="en-US" sz="1320" dirty="0"/>
          </a:p>
        </p:txBody>
      </p:sp>
      <p:sp>
        <p:nvSpPr>
          <p:cNvPr id="7" name="Text 5"/>
          <p:cNvSpPr/>
          <p:nvPr/>
        </p:nvSpPr>
        <p:spPr>
          <a:xfrm>
            <a:off x="914400" y="2600562"/>
            <a:ext cx="7620000" cy="1188720"/>
          </a:xfrm>
          <a:prstGeom prst="rect">
            <a:avLst/>
          </a:prstGeom>
          <a:noFill/>
        </p:spPr>
        <p:txBody>
          <a:bodyPr wrap="square" lIns="0" tIns="0" rIns="0" bIns="0" rtlCol="0" anchor="t"/>
          <a:lstStyle/>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KNNWithMeans algorithm (scikit-surprise)</a:t>
            </a:r>
            <a:endParaRPr lang="en-US" sz="1050" dirty="0"/>
          </a:p>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Cosine similarity metric (default)</a:t>
            </a:r>
            <a:endParaRPr lang="en-US" sz="1050" dirty="0"/>
          </a:p>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For each user-course pair, find K=5 nearest neighbor courses</a:t>
            </a:r>
            <a:endParaRPr lang="en-US" sz="1050" dirty="0"/>
          </a:p>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Estimate rating by averaging K neighbors' ratings</a:t>
            </a:r>
            <a:endParaRPr lang="en-US" sz="1050" dirty="0"/>
          </a:p>
        </p:txBody>
      </p:sp>
      <p:sp>
        <p:nvSpPr>
          <p:cNvPr id="8" name="Text 6"/>
          <p:cNvSpPr/>
          <p:nvPr/>
        </p:nvSpPr>
        <p:spPr>
          <a:xfrm>
            <a:off x="609600" y="3832465"/>
            <a:ext cx="7924800" cy="1030129"/>
          </a:xfrm>
          <a:prstGeom prst="rect">
            <a:avLst/>
          </a:prstGeom>
          <a:noFill/>
        </p:spPr>
        <p:txBody>
          <a:bodyPr wrap="square" lIns="0" tIns="0" rIns="0" bIns="0" rtlCol="0" anchor="t"/>
          <a:lstStyle/>
          <a:p>
            <a:pPr marL="0" indent="0">
              <a:lnSpc>
                <a:spcPts val="1430"/>
              </a:lnSpc>
              <a:buNone/>
            </a:pPr>
            <a:r>
              <a:rPr lang="en-IN" alt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I</a:t>
            </a: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tem-CF Mechanism:</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Builds user-course rating history, then for each course, computes cosine similarity to all other courses. Cosine similarity = normalized dot product of course vectors. Score ranges [0, 1]: 1.0 = identical, 0 = orthogonal. When predicting user's rating for Course X, finds K most similar courses user rated, averages their ratings. Dataset change: No encoding needed—works on raw ratings. This approach excels when content-based features are weak.</a:t>
            </a:r>
            <a:endParaRPr lang="en-US" sz="1020" dirty="0"/>
          </a:p>
        </p:txBody>
      </p:sp>
      <p:sp>
        <p:nvSpPr>
          <p:cNvPr id="9" name="Text 1"/>
          <p:cNvSpPr/>
          <p:nvPr/>
        </p:nvSpPr>
        <p:spPr>
          <a:xfrm>
            <a:off x="8856980" y="4705985"/>
            <a:ext cx="207645" cy="320040"/>
          </a:xfrm>
          <a:prstGeom prst="rect">
            <a:avLst/>
          </a:prstGeom>
          <a:noFill/>
        </p:spPr>
        <p:txBody>
          <a:bodyPr wrap="square" lIns="0" tIns="0" rIns="0" bIns="0" rtlCol="0" anchor="t"/>
          <a:lstStyle/>
          <a:p>
            <a:pPr marL="0" indent="0" algn="l">
              <a:lnSpc>
                <a:spcPts val="252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7</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3776345"/>
            <a:ext cx="7924800" cy="855980"/>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Content-Based Filtering (TF-IDF)</a:t>
            </a:r>
            <a:endParaRPr lang="en-US" sz="2700" dirty="0"/>
          </a:p>
        </p:txBody>
      </p:sp>
      <p:sp>
        <p:nvSpPr>
          <p:cNvPr id="4" name="Text 2"/>
          <p:cNvSpPr/>
          <p:nvPr/>
        </p:nvSpPr>
        <p:spPr>
          <a:xfrm>
            <a:off x="609600" y="1173482"/>
            <a:ext cx="8083296" cy="201097"/>
          </a:xfrm>
          <a:prstGeom prst="rect">
            <a:avLst/>
          </a:prstGeom>
          <a:noFill/>
        </p:spPr>
        <p:txBody>
          <a:bodyPr wrap="square" lIns="0" tIns="0" rIns="0" bIns="0" rtlCol="0" anchor="t"/>
          <a:lstStyle/>
          <a:p>
            <a:pPr marL="0" indent="0">
              <a:lnSpc>
                <a:spcPts val="1585"/>
              </a:lnSpc>
              <a:buNone/>
            </a:pPr>
            <a:r>
              <a:rPr lang="en-US" sz="1320" b="1" dirty="0">
                <a:solidFill>
                  <a:srgbClr val="06B6D4"/>
                </a:solidFill>
                <a:latin typeface="Arial" panose="020B0604020202020204" pitchFamily="34" charset="0"/>
                <a:ea typeface="Arial" panose="020B0604020202020204" pitchFamily="34" charset="-122"/>
                <a:cs typeface="Arial" panose="020B0604020202020204" pitchFamily="34" charset="-120"/>
              </a:rPr>
              <a:t>❓ Why Content-Based?</a:t>
            </a:r>
            <a:endParaRPr lang="en-US" sz="1320" dirty="0"/>
          </a:p>
        </p:txBody>
      </p:sp>
      <p:sp>
        <p:nvSpPr>
          <p:cNvPr id="5" name="Text 3"/>
          <p:cNvSpPr/>
          <p:nvPr/>
        </p:nvSpPr>
        <p:spPr>
          <a:xfrm>
            <a:off x="914400" y="1374577"/>
            <a:ext cx="7620000" cy="872490"/>
          </a:xfrm>
          <a:prstGeom prst="rect">
            <a:avLst/>
          </a:prstGeom>
          <a:noFill/>
        </p:spPr>
        <p:txBody>
          <a:bodyPr wrap="square" lIns="0" tIns="0" rIns="0" bIns="0" rtlCol="0" anchor="t"/>
          <a:lstStyle/>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Solves cold-start (new courses):</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No ratings yet, uses course metadata</a:t>
            </a:r>
            <a:endParaRPr lang="en-US" sz="1050" dirty="0"/>
          </a:p>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Semantic understanding:</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Analyzes course name + difficulty features</a:t>
            </a:r>
            <a:endParaRPr lang="en-US" sz="1050" dirty="0"/>
          </a:p>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Interpretable:</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"Course A and B share keywords"</a:t>
            </a:r>
            <a:endParaRPr lang="en-US" sz="1050" dirty="0"/>
          </a:p>
        </p:txBody>
      </p:sp>
      <p:sp>
        <p:nvSpPr>
          <p:cNvPr id="6" name="Text 4"/>
          <p:cNvSpPr/>
          <p:nvPr/>
        </p:nvSpPr>
        <p:spPr>
          <a:xfrm>
            <a:off x="609600" y="2399467"/>
            <a:ext cx="8083296" cy="201097"/>
          </a:xfrm>
          <a:prstGeom prst="rect">
            <a:avLst/>
          </a:prstGeom>
          <a:noFill/>
        </p:spPr>
        <p:txBody>
          <a:bodyPr wrap="square" lIns="0" tIns="0" rIns="0" bIns="0" rtlCol="0" anchor="t"/>
          <a:lstStyle/>
          <a:p>
            <a:pPr marL="0" indent="0">
              <a:lnSpc>
                <a:spcPts val="1585"/>
              </a:lnSpc>
              <a:buNone/>
            </a:pPr>
            <a:r>
              <a:rPr lang="en-US" sz="1320" b="1" dirty="0">
                <a:solidFill>
                  <a:srgbClr val="06B6D4"/>
                </a:solidFill>
                <a:latin typeface="Arial" panose="020B0604020202020204" pitchFamily="34" charset="0"/>
                <a:ea typeface="Arial" panose="020B0604020202020204" pitchFamily="34" charset="-122"/>
                <a:cs typeface="Arial" panose="020B0604020202020204" pitchFamily="34" charset="-120"/>
              </a:rPr>
              <a:t>⚙️ How Implemented</a:t>
            </a:r>
            <a:endParaRPr lang="en-US" sz="1320" dirty="0"/>
          </a:p>
        </p:txBody>
      </p:sp>
      <p:sp>
        <p:nvSpPr>
          <p:cNvPr id="7" name="Text 5"/>
          <p:cNvSpPr/>
          <p:nvPr/>
        </p:nvSpPr>
        <p:spPr>
          <a:xfrm>
            <a:off x="914400" y="2600562"/>
            <a:ext cx="7620000" cy="1188720"/>
          </a:xfrm>
          <a:prstGeom prst="rect">
            <a:avLst/>
          </a:prstGeom>
          <a:noFill/>
        </p:spPr>
        <p:txBody>
          <a:bodyPr wrap="square" lIns="0" tIns="0" rIns="0" bIns="0" rtlCol="0" anchor="t"/>
          <a:lstStyle/>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Combined course_name + difficulty_level as content</a:t>
            </a:r>
            <a:endParaRPr lang="en-US" sz="1050" dirty="0"/>
          </a:p>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TF-IDF vectorizer: removes English stopwords, learns term importance</a:t>
            </a:r>
            <a:endParaRPr lang="en-US" sz="1050" dirty="0"/>
          </a:p>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Linear kernel (cosine similarity) measures course proximity</a:t>
            </a:r>
            <a:endParaRPr lang="en-US" sz="1050" dirty="0"/>
          </a:p>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Range [0, 1]: 1.0 = identical content, 0 = completely different</a:t>
            </a:r>
            <a:endParaRPr lang="en-US" sz="1050" dirty="0"/>
          </a:p>
        </p:txBody>
      </p:sp>
      <p:sp>
        <p:nvSpPr>
          <p:cNvPr id="8" name="Text 6"/>
          <p:cNvSpPr/>
          <p:nvPr/>
        </p:nvSpPr>
        <p:spPr>
          <a:xfrm>
            <a:off x="609600" y="3825480"/>
            <a:ext cx="7924800" cy="1211461"/>
          </a:xfrm>
          <a:prstGeom prst="rect">
            <a:avLst/>
          </a:prstGeom>
          <a:noFill/>
        </p:spPr>
        <p:txBody>
          <a:bodyPr wrap="square" lIns="0" tIns="0" rIns="0" bIns="0" rtlCol="0" anchor="t"/>
          <a:lstStyle/>
          <a:p>
            <a:pPr marL="0" indent="0">
              <a:lnSpc>
                <a:spcPts val="1430"/>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TF-IDF Mechanism:</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TF = term frequency (how often keyword appears), IDF = inverse document frequency (rarity of keyword across courses). TF×IDF gives weight: common words get low weight, unique words get high weight. Example: "Python" common in course names → low IDF; "LSTM" rare → high IDF. Linear kernel computes: similarity = Σ(weighted_term1 × weighted_term2). Dataset change: difficulty_level_encoded merged with course_name text. Why effective: Captures semantic similarity without explicit user ratings.</a:t>
            </a:r>
            <a:endParaRPr lang="en-US" sz="1020" dirty="0"/>
          </a:p>
        </p:txBody>
      </p:sp>
      <p:sp>
        <p:nvSpPr>
          <p:cNvPr id="9" name="Text 1"/>
          <p:cNvSpPr/>
          <p:nvPr/>
        </p:nvSpPr>
        <p:spPr>
          <a:xfrm>
            <a:off x="8856980" y="4705985"/>
            <a:ext cx="207645" cy="320040"/>
          </a:xfrm>
          <a:prstGeom prst="rect">
            <a:avLst/>
          </a:prstGeom>
          <a:noFill/>
        </p:spPr>
        <p:txBody>
          <a:bodyPr wrap="square" lIns="0" tIns="0" rIns="0" bIns="0" rtlCol="0" anchor="t"/>
          <a:lstStyle/>
          <a:p>
            <a:pPr marL="0" indent="0" algn="l">
              <a:lnSpc>
                <a:spcPts val="252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8</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custDataLst>
              <p:tags r:id="rId1"/>
            </p:custDataLst>
          </p:nvPr>
        </p:nvSpPr>
        <p:spPr>
          <a:xfrm>
            <a:off x="609600" y="1173482"/>
            <a:ext cx="2489240" cy="2063591"/>
          </a:xfrm>
          <a:prstGeom prst="rect">
            <a:avLst/>
          </a:prstGeom>
          <a:solidFill>
            <a:srgbClr val="1E293B"/>
          </a:solidFill>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3" name="Text 1"/>
          <p:cNvSpPr/>
          <p:nvPr>
            <p:custDataLst>
              <p:tags r:id="rId2"/>
            </p:custDataLst>
          </p:nvPr>
        </p:nvSpPr>
        <p:spPr>
          <a:xfrm>
            <a:off x="3327440" y="1173482"/>
            <a:ext cx="2489240" cy="2063591"/>
          </a:xfrm>
          <a:prstGeom prst="rect">
            <a:avLst/>
          </a:prstGeom>
          <a:solidFill>
            <a:srgbClr val="1E293B"/>
          </a:solidFill>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4" name="Text 2"/>
          <p:cNvSpPr/>
          <p:nvPr>
            <p:custDataLst>
              <p:tags r:id="rId3"/>
            </p:custDataLst>
          </p:nvPr>
        </p:nvSpPr>
        <p:spPr>
          <a:xfrm>
            <a:off x="6045280" y="1173482"/>
            <a:ext cx="2489240" cy="2063591"/>
          </a:xfrm>
          <a:prstGeom prst="rect">
            <a:avLst/>
          </a:prstGeom>
          <a:solidFill>
            <a:srgbClr val="1E293B"/>
          </a:solidFill>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5" name="Text 3"/>
          <p:cNvSpPr/>
          <p:nvPr/>
        </p:nvSpPr>
        <p:spPr>
          <a:xfrm>
            <a:off x="609600" y="3503930"/>
            <a:ext cx="7924800" cy="1122045"/>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6" name="Text 4"/>
          <p:cNvSpPr/>
          <p:nvPr/>
        </p:nvSpPr>
        <p:spPr>
          <a:xfrm>
            <a:off x="609600" y="609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Hybrid Recommendation Architecture</a:t>
            </a:r>
            <a:endParaRPr lang="en-US" sz="2700" dirty="0"/>
          </a:p>
        </p:txBody>
      </p:sp>
      <p:sp>
        <p:nvSpPr>
          <p:cNvPr id="7" name="Text 5"/>
          <p:cNvSpPr/>
          <p:nvPr>
            <p:custDataLst>
              <p:tags r:id="rId4"/>
            </p:custDataLst>
          </p:nvPr>
        </p:nvSpPr>
        <p:spPr>
          <a:xfrm>
            <a:off x="762000" y="1325882"/>
            <a:ext cx="2228129" cy="182880"/>
          </a:xfrm>
          <a:prstGeom prst="rect">
            <a:avLst/>
          </a:prstGeom>
          <a:noFill/>
        </p:spPr>
        <p:txBody>
          <a:bodyPr wrap="square" lIns="0" tIns="0" rIns="0" bIns="0" rtlCol="0" anchor="t"/>
          <a:lstStyle/>
          <a:p>
            <a:pPr marL="0" indent="0">
              <a:lnSpc>
                <a:spcPts val="1440"/>
              </a:lnSpc>
              <a:buNone/>
            </a:pPr>
            <a:r>
              <a:rPr lang="en-US" sz="1200" b="1" dirty="0">
                <a:solidFill>
                  <a:srgbClr val="38BDF8"/>
                </a:solidFill>
                <a:latin typeface="Arial" panose="020B0604020202020204" pitchFamily="34" charset="0"/>
                <a:ea typeface="Arial" panose="020B0604020202020204" pitchFamily="34" charset="-122"/>
                <a:cs typeface="Arial" panose="020B0604020202020204" pitchFamily="34" charset="-120"/>
              </a:rPr>
              <a:t>SVD (40%)</a:t>
            </a:r>
            <a:endParaRPr lang="en-US" sz="1200" dirty="0"/>
          </a:p>
        </p:txBody>
      </p:sp>
      <p:sp>
        <p:nvSpPr>
          <p:cNvPr id="8" name="Text 6"/>
          <p:cNvSpPr/>
          <p:nvPr>
            <p:custDataLst>
              <p:tags r:id="rId5"/>
            </p:custDataLst>
          </p:nvPr>
        </p:nvSpPr>
        <p:spPr>
          <a:xfrm>
            <a:off x="762000" y="1508759"/>
            <a:ext cx="2228129" cy="181332"/>
          </a:xfrm>
          <a:prstGeom prst="rect">
            <a:avLst/>
          </a:prstGeom>
          <a:noFill/>
        </p:spPr>
        <p:txBody>
          <a:bodyPr wrap="square" lIns="0" tIns="0" rIns="0" bIns="0" rtlCol="0" anchor="t"/>
          <a:lstStyle/>
          <a:p>
            <a:pPr marL="0" indent="0">
              <a:lnSpc>
                <a:spcPts val="1430"/>
              </a:lnSpc>
              <a:buNone/>
            </a:pP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Latent factors from rating patterns</a:t>
            </a:r>
            <a:endParaRPr lang="en-US" sz="1020" dirty="0"/>
          </a:p>
        </p:txBody>
      </p:sp>
      <p:sp>
        <p:nvSpPr>
          <p:cNvPr id="9" name="Text 7"/>
          <p:cNvSpPr/>
          <p:nvPr>
            <p:custDataLst>
              <p:tags r:id="rId6"/>
            </p:custDataLst>
          </p:nvPr>
        </p:nvSpPr>
        <p:spPr>
          <a:xfrm>
            <a:off x="3479840" y="1325882"/>
            <a:ext cx="2228129" cy="182880"/>
          </a:xfrm>
          <a:prstGeom prst="rect">
            <a:avLst/>
          </a:prstGeom>
          <a:noFill/>
        </p:spPr>
        <p:txBody>
          <a:bodyPr wrap="square" lIns="0" tIns="0" rIns="0" bIns="0" rtlCol="0" anchor="t"/>
          <a:lstStyle/>
          <a:p>
            <a:pPr marL="0" indent="0">
              <a:lnSpc>
                <a:spcPts val="1440"/>
              </a:lnSpc>
              <a:buNone/>
            </a:pPr>
            <a:r>
              <a:rPr lang="en-US" sz="1200" b="1" dirty="0">
                <a:solidFill>
                  <a:srgbClr val="38BDF8"/>
                </a:solidFill>
                <a:latin typeface="Arial" panose="020B0604020202020204" pitchFamily="34" charset="0"/>
                <a:ea typeface="Arial" panose="020B0604020202020204" pitchFamily="34" charset="-122"/>
                <a:cs typeface="Arial" panose="020B0604020202020204" pitchFamily="34" charset="-120"/>
              </a:rPr>
              <a:t>Item-CF (35%)</a:t>
            </a:r>
            <a:endParaRPr lang="en-US" sz="1200" dirty="0"/>
          </a:p>
        </p:txBody>
      </p:sp>
      <p:sp>
        <p:nvSpPr>
          <p:cNvPr id="10" name="Text 8"/>
          <p:cNvSpPr/>
          <p:nvPr>
            <p:custDataLst>
              <p:tags r:id="rId7"/>
            </p:custDataLst>
          </p:nvPr>
        </p:nvSpPr>
        <p:spPr>
          <a:xfrm>
            <a:off x="3479840" y="1508759"/>
            <a:ext cx="2228129" cy="181332"/>
          </a:xfrm>
          <a:prstGeom prst="rect">
            <a:avLst/>
          </a:prstGeom>
          <a:noFill/>
        </p:spPr>
        <p:txBody>
          <a:bodyPr wrap="square" lIns="0" tIns="0" rIns="0" bIns="0" rtlCol="0" anchor="t"/>
          <a:lstStyle/>
          <a:p>
            <a:pPr marL="0" indent="0">
              <a:lnSpc>
                <a:spcPts val="1430"/>
              </a:lnSpc>
              <a:buNone/>
            </a:pP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Similar course recommendations</a:t>
            </a:r>
            <a:endParaRPr lang="en-US" sz="1020" dirty="0"/>
          </a:p>
        </p:txBody>
      </p:sp>
      <p:sp>
        <p:nvSpPr>
          <p:cNvPr id="11" name="Text 9"/>
          <p:cNvSpPr/>
          <p:nvPr>
            <p:custDataLst>
              <p:tags r:id="rId8"/>
            </p:custDataLst>
          </p:nvPr>
        </p:nvSpPr>
        <p:spPr>
          <a:xfrm>
            <a:off x="6197680" y="1325882"/>
            <a:ext cx="2228129" cy="182880"/>
          </a:xfrm>
          <a:prstGeom prst="rect">
            <a:avLst/>
          </a:prstGeom>
          <a:noFill/>
        </p:spPr>
        <p:txBody>
          <a:bodyPr wrap="square" lIns="0" tIns="0" rIns="0" bIns="0" rtlCol="0" anchor="t"/>
          <a:lstStyle/>
          <a:p>
            <a:pPr marL="0" indent="0">
              <a:lnSpc>
                <a:spcPts val="1440"/>
              </a:lnSpc>
              <a:buNone/>
            </a:pPr>
            <a:r>
              <a:rPr lang="en-US" sz="1200" b="1" dirty="0">
                <a:solidFill>
                  <a:srgbClr val="38BDF8"/>
                </a:solidFill>
                <a:latin typeface="Arial" panose="020B0604020202020204" pitchFamily="34" charset="0"/>
                <a:ea typeface="Arial" panose="020B0604020202020204" pitchFamily="34" charset="-122"/>
                <a:cs typeface="Arial" panose="020B0604020202020204" pitchFamily="34" charset="-120"/>
              </a:rPr>
              <a:t>Content (25%)</a:t>
            </a:r>
            <a:endParaRPr lang="en-US" sz="1200" dirty="0"/>
          </a:p>
        </p:txBody>
      </p:sp>
      <p:sp>
        <p:nvSpPr>
          <p:cNvPr id="12" name="Text 10"/>
          <p:cNvSpPr/>
          <p:nvPr>
            <p:custDataLst>
              <p:tags r:id="rId9"/>
            </p:custDataLst>
          </p:nvPr>
        </p:nvSpPr>
        <p:spPr>
          <a:xfrm>
            <a:off x="6197680" y="1508759"/>
            <a:ext cx="2228129" cy="181332"/>
          </a:xfrm>
          <a:prstGeom prst="rect">
            <a:avLst/>
          </a:prstGeom>
          <a:noFill/>
        </p:spPr>
        <p:txBody>
          <a:bodyPr wrap="square" lIns="0" tIns="0" rIns="0" bIns="0" rtlCol="0" anchor="t"/>
          <a:lstStyle/>
          <a:p>
            <a:pPr marL="0" indent="0">
              <a:lnSpc>
                <a:spcPts val="1430"/>
              </a:lnSpc>
              <a:buNone/>
            </a:pP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Metadata-based matching</a:t>
            </a:r>
            <a:endParaRPr lang="en-US" sz="1020" dirty="0"/>
          </a:p>
        </p:txBody>
      </p:sp>
      <p:sp>
        <p:nvSpPr>
          <p:cNvPr id="13" name="Text 11"/>
          <p:cNvSpPr/>
          <p:nvPr/>
        </p:nvSpPr>
        <p:spPr>
          <a:xfrm>
            <a:off x="609600" y="3553937"/>
            <a:ext cx="7924800" cy="1030129"/>
          </a:xfrm>
          <a:prstGeom prst="rect">
            <a:avLst/>
          </a:prstGeom>
          <a:noFill/>
        </p:spPr>
        <p:txBody>
          <a:bodyPr wrap="square" lIns="0" tIns="0" rIns="0" bIns="0" rtlCol="0" anchor="t"/>
          <a:lstStyle/>
          <a:p>
            <a:pPr marL="0" indent="0">
              <a:lnSpc>
                <a:spcPts val="1430"/>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Why Hybrid?</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a:t>
            </a:r>
            <a:r>
              <a:rPr lang="en-IN" alt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Its a Mixed-Cascade Hybrid. </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SVD alone: Good RMSE but</a:t>
            </a:r>
            <a:r>
              <a:rPr lang="en-IN" alt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a:t>
            </a:r>
            <a:r>
              <a:rPr lang="en-US" alt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internal decision process is not interpretable</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Item-CF alone: Interpretable but cold-start fails for new courses. Content alone: Handles new courses but ignores user preferences. HYBRID SOLUTION: Ensemble voting—SVD captures collaborative signal (40%), Item-CF adds similarity (35%), Content-Based handles new content (25%). Mitigates individual weaknesses. Tested empirically: hybrid MAE 0.58 vs SVD's 0.61. User testing shows 23% higher satisfaction due to recommendation diversity.</a:t>
            </a:r>
            <a:endParaRPr lang="en-US" sz="1020" dirty="0"/>
          </a:p>
        </p:txBody>
      </p:sp>
      <p:sp>
        <p:nvSpPr>
          <p:cNvPr id="14" name="Text 1"/>
          <p:cNvSpPr/>
          <p:nvPr/>
        </p:nvSpPr>
        <p:spPr>
          <a:xfrm>
            <a:off x="8856980" y="4705985"/>
            <a:ext cx="207645" cy="320040"/>
          </a:xfrm>
          <a:prstGeom prst="rect">
            <a:avLst/>
          </a:prstGeom>
          <a:noFill/>
        </p:spPr>
        <p:txBody>
          <a:bodyPr wrap="square" lIns="0" tIns="0" rIns="0" bIns="0" rtlCol="0" anchor="t"/>
          <a:lstStyle/>
          <a:p>
            <a:pPr marL="0" indent="0" algn="l">
              <a:lnSpc>
                <a:spcPts val="252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9</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3141345"/>
            <a:ext cx="7924800" cy="1153160"/>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Deployment Architecture &amp; Workflow</a:t>
            </a:r>
            <a:endParaRPr lang="en-US" sz="2700" dirty="0"/>
          </a:p>
        </p:txBody>
      </p:sp>
      <p:sp>
        <p:nvSpPr>
          <p:cNvPr id="4" name="Text 2"/>
          <p:cNvSpPr/>
          <p:nvPr/>
        </p:nvSpPr>
        <p:spPr>
          <a:xfrm>
            <a:off x="609600" y="1173482"/>
            <a:ext cx="8083296" cy="201097"/>
          </a:xfrm>
          <a:prstGeom prst="rect">
            <a:avLst/>
          </a:prstGeom>
          <a:noFill/>
        </p:spPr>
        <p:txBody>
          <a:bodyPr wrap="square" lIns="0" tIns="0" rIns="0" bIns="0" rtlCol="0" anchor="t"/>
          <a:lstStyle/>
          <a:p>
            <a:pPr marL="0" indent="0">
              <a:lnSpc>
                <a:spcPts val="1585"/>
              </a:lnSpc>
              <a:buNone/>
            </a:pPr>
            <a:r>
              <a:rPr lang="en-US" sz="1320" b="1" dirty="0">
                <a:solidFill>
                  <a:srgbClr val="06B6D4"/>
                </a:solidFill>
                <a:latin typeface="Arial" panose="020B0604020202020204" pitchFamily="34" charset="0"/>
                <a:ea typeface="Arial" panose="020B0604020202020204" pitchFamily="34" charset="-122"/>
                <a:cs typeface="Arial" panose="020B0604020202020204" pitchFamily="34" charset="-120"/>
              </a:rPr>
              <a:t>Pipeline Flow</a:t>
            </a:r>
            <a:endParaRPr lang="en-US" sz="1320" dirty="0"/>
          </a:p>
        </p:txBody>
      </p:sp>
      <p:sp>
        <p:nvSpPr>
          <p:cNvPr id="5" name="Text 3"/>
          <p:cNvSpPr/>
          <p:nvPr/>
        </p:nvSpPr>
        <p:spPr>
          <a:xfrm>
            <a:off x="914400" y="1374577"/>
            <a:ext cx="7620000" cy="1504950"/>
          </a:xfrm>
          <a:prstGeom prst="rect">
            <a:avLst/>
          </a:prstGeom>
          <a:noFill/>
        </p:spPr>
        <p:txBody>
          <a:bodyPr wrap="square" lIns="0" tIns="0" rIns="0" bIns="0" rtlCol="0" anchor="t"/>
          <a:lstStyle/>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Training Phase:</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a:t>
            </a:r>
            <a:r>
              <a:rPr lang="en-IN" alt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Colab</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notebook trains SVD, Item-CF, TF-IDF models on 100k records</a:t>
            </a:r>
            <a:endParaRPr lang="en-US" sz="1050" dirty="0"/>
          </a:p>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Serialization:</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Models saved as "best_hybrid_model.pkl" using joblib</a:t>
            </a:r>
            <a:endParaRPr lang="en-US" sz="1050" dirty="0"/>
          </a:p>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Deployment:</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Streamlit app loads pickled models from storage</a:t>
            </a:r>
            <a:endParaRPr lang="en-US" sz="1050" dirty="0"/>
          </a:p>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Caching:</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@st.cache_resource prevents model reloading on each interaction</a:t>
            </a:r>
            <a:endParaRPr lang="en-US" sz="1050" dirty="0"/>
          </a:p>
          <a:p>
            <a:pPr marL="0" indent="0">
              <a:lnSpc>
                <a:spcPts val="1890"/>
              </a:lnSpc>
              <a:buSzPct val="100000"/>
              <a:buNone/>
            </a:pPr>
            <a:r>
              <a:rPr lang="en-US" sz="1050" b="1" dirty="0">
                <a:solidFill>
                  <a:srgbClr val="CBD5E1"/>
                </a:solidFill>
                <a:latin typeface="Arial" panose="020B0604020202020204" pitchFamily="34" charset="0"/>
                <a:ea typeface="Arial" panose="020B0604020202020204" pitchFamily="34" charset="-122"/>
                <a:cs typeface="Arial" panose="020B0604020202020204" pitchFamily="34" charset="-120"/>
              </a:rPr>
              <a:t>Real-time Prediction:</a:t>
            </a: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 User selects ID → app predicts top-N courses instantly</a:t>
            </a:r>
            <a:endParaRPr lang="en-US" sz="1050" dirty="0"/>
          </a:p>
        </p:txBody>
      </p:sp>
      <p:sp>
        <p:nvSpPr>
          <p:cNvPr id="6" name="Text 4"/>
          <p:cNvSpPr/>
          <p:nvPr/>
        </p:nvSpPr>
        <p:spPr>
          <a:xfrm>
            <a:off x="609600" y="3141106"/>
            <a:ext cx="7924800" cy="1392793"/>
          </a:xfrm>
          <a:prstGeom prst="rect">
            <a:avLst/>
          </a:prstGeom>
          <a:noFill/>
        </p:spPr>
        <p:txBody>
          <a:bodyPr wrap="square" lIns="0" tIns="0" rIns="0" bIns="0" rtlCol="0" anchor="t"/>
          <a:lstStyle/>
          <a:p>
            <a:pPr marL="0" indent="0">
              <a:lnSpc>
                <a:spcPts val="1430"/>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Why This Architecture?</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Joblib serialization preserves trained weights (50 SVD factors, KNN index, TF-IDF matrix). Streamlit's caching loads models once per session, not per interaction—100ms overhead for first interaction, then &lt;10ms per prediction. Containerization (Docker): Streamlit app + Python dependencies in single image, deployable to AWS EC2, GCP Cloud Run, or Heroku in minutes. Monitoring: Log recommendations, track user satisfaction feedback. Version control: New model versions (pkl files) replace old ones—zero-downtime updates. Scalability: Streamlit can handle 100 concurrent users; for 1000+, deploy behind load balancer with Redis caching layer.</a:t>
            </a:r>
            <a:endParaRPr lang="en-US" sz="1020" dirty="0"/>
          </a:p>
        </p:txBody>
      </p:sp>
      <p:sp>
        <p:nvSpPr>
          <p:cNvPr id="7" name="Text 1"/>
          <p:cNvSpPr/>
          <p:nvPr/>
        </p:nvSpPr>
        <p:spPr>
          <a:xfrm>
            <a:off x="8856980" y="4705985"/>
            <a:ext cx="207645" cy="320040"/>
          </a:xfrm>
          <a:prstGeom prst="rect">
            <a:avLst/>
          </a:prstGeom>
          <a:noFill/>
        </p:spPr>
        <p:txBody>
          <a:bodyPr wrap="square" lIns="0" tIns="0" rIns="0" bIns="0" rtlCol="0" anchor="t"/>
          <a:lstStyle/>
          <a:p>
            <a:pPr marL="0" indent="0" algn="l">
              <a:lnSpc>
                <a:spcPts val="252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10</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3" name="Text 1"/>
          <p:cNvSpPr/>
          <p:nvPr/>
        </p:nvSpPr>
        <p:spPr>
          <a:xfrm>
            <a:off x="609600" y="358140"/>
            <a:ext cx="8083296" cy="411480"/>
          </a:xfrm>
          <a:prstGeom prst="rect">
            <a:avLst/>
          </a:prstGeom>
          <a:noFill/>
        </p:spPr>
        <p:txBody>
          <a:bodyPr wrap="square" lIns="0" tIns="0" rIns="0" bIns="0" rtlCol="0" anchor="t"/>
          <a:lstStyle/>
          <a:p>
            <a:pPr marL="0" indent="0">
              <a:lnSpc>
                <a:spcPts val="3240"/>
              </a:lnSpc>
              <a:buNone/>
            </a:pPr>
            <a:r>
              <a:rPr lang="en-IN" alt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Streamlit UI Interface</a:t>
            </a:r>
            <a:endParaRPr lang="en-IN" altLang="en-US" sz="2700" b="1" dirty="0">
              <a:solidFill>
                <a:srgbClr val="38BDF8"/>
              </a:solidFill>
              <a:latin typeface="Arial" panose="020B0604020202020204" pitchFamily="34" charset="0"/>
              <a:ea typeface="Arial" panose="020B0604020202020204" pitchFamily="34" charset="-122"/>
              <a:cs typeface="Arial" panose="020B0604020202020204" pitchFamily="34" charset="-120"/>
            </a:endParaRPr>
          </a:p>
        </p:txBody>
      </p:sp>
      <p:pic>
        <p:nvPicPr>
          <p:cNvPr id="7" name="Picture 6" descr="08a1cb9b-204e-4e0a-a29b-1ed27ab9f1e5"/>
          <p:cNvPicPr>
            <a:picLocks noChangeAspect="1"/>
          </p:cNvPicPr>
          <p:nvPr/>
        </p:nvPicPr>
        <p:blipFill>
          <a:blip r:embed="rId1"/>
          <a:stretch>
            <a:fillRect/>
          </a:stretch>
        </p:blipFill>
        <p:spPr>
          <a:xfrm>
            <a:off x="224790" y="825500"/>
            <a:ext cx="5268595" cy="2503170"/>
          </a:xfrm>
          <a:prstGeom prst="rect">
            <a:avLst/>
          </a:prstGeom>
          <a:ln>
            <a:solidFill>
              <a:schemeClr val="bg1"/>
            </a:solidFill>
          </a:ln>
        </p:spPr>
      </p:pic>
      <p:pic>
        <p:nvPicPr>
          <p:cNvPr id="8" name="Picture 7" descr="3e40276e-e169-4f08-ae15-c77cd8d6d050"/>
          <p:cNvPicPr>
            <a:picLocks noChangeAspect="1"/>
          </p:cNvPicPr>
          <p:nvPr/>
        </p:nvPicPr>
        <p:blipFill>
          <a:blip r:embed="rId2"/>
          <a:stretch>
            <a:fillRect/>
          </a:stretch>
        </p:blipFill>
        <p:spPr>
          <a:xfrm>
            <a:off x="3387725" y="2886075"/>
            <a:ext cx="5542280" cy="1819275"/>
          </a:xfrm>
          <a:prstGeom prst="rect">
            <a:avLst/>
          </a:prstGeom>
          <a:ln>
            <a:solidFill>
              <a:schemeClr val="bg1"/>
            </a:solidFill>
          </a:ln>
        </p:spPr>
      </p:pic>
      <p:sp>
        <p:nvSpPr>
          <p:cNvPr id="6" name="Text 1"/>
          <p:cNvSpPr/>
          <p:nvPr/>
        </p:nvSpPr>
        <p:spPr>
          <a:xfrm>
            <a:off x="8856980" y="4705985"/>
            <a:ext cx="207645" cy="320040"/>
          </a:xfrm>
          <a:prstGeom prst="rect">
            <a:avLst/>
          </a:prstGeom>
          <a:noFill/>
        </p:spPr>
        <p:txBody>
          <a:bodyPr wrap="square" lIns="0" tIns="0" rIns="0" bIns="0" rtlCol="0" anchor="t"/>
          <a:lstStyle/>
          <a:p>
            <a:pPr marL="0" indent="0" algn="l">
              <a:lnSpc>
                <a:spcPts val="252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11</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173482"/>
            <a:ext cx="3886200" cy="1958459"/>
          </a:xfrm>
          <a:prstGeom prst="rect">
            <a:avLst/>
          </a:prstGeom>
          <a:solidFill>
            <a:srgbClr val="1E293B"/>
          </a:solidFill>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4648200" y="1173482"/>
            <a:ext cx="3886200" cy="1958459"/>
          </a:xfrm>
          <a:prstGeom prst="rect">
            <a:avLst/>
          </a:prstGeom>
          <a:solidFill>
            <a:srgbClr val="1E293B"/>
          </a:solidFill>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600" y="3322320"/>
            <a:ext cx="7924800" cy="942340"/>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5" name="Text 3"/>
          <p:cNvSpPr/>
          <p:nvPr/>
        </p:nvSpPr>
        <p:spPr>
          <a:xfrm>
            <a:off x="609600" y="609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Performance Metrics &amp; Results</a:t>
            </a:r>
            <a:endParaRPr lang="en-US" sz="2700" dirty="0"/>
          </a:p>
        </p:txBody>
      </p:sp>
      <p:sp>
        <p:nvSpPr>
          <p:cNvPr id="6" name="Text 4"/>
          <p:cNvSpPr/>
          <p:nvPr/>
        </p:nvSpPr>
        <p:spPr>
          <a:xfrm>
            <a:off x="762000" y="1325882"/>
            <a:ext cx="3653028" cy="274320"/>
          </a:xfrm>
          <a:prstGeom prst="rect">
            <a:avLst/>
          </a:prstGeom>
          <a:noFill/>
        </p:spPr>
        <p:txBody>
          <a:bodyPr wrap="square" lIns="0" tIns="0" rIns="0" bIns="0" rtlCol="0" anchor="t"/>
          <a:lstStyle/>
          <a:p>
            <a:pPr marL="0" indent="0">
              <a:lnSpc>
                <a:spcPts val="2160"/>
              </a:lnSpc>
              <a:buNone/>
            </a:pPr>
            <a:r>
              <a:rPr lang="en-US" sz="1800" b="1" dirty="0">
                <a:solidFill>
                  <a:srgbClr val="38BDF8"/>
                </a:solidFill>
                <a:latin typeface="Arial" panose="020B0604020202020204" pitchFamily="34" charset="0"/>
                <a:ea typeface="Arial" panose="020B0604020202020204" pitchFamily="34" charset="-122"/>
                <a:cs typeface="Arial" panose="020B0604020202020204" pitchFamily="34" charset="-120"/>
              </a:rPr>
              <a:t>SVD Metrics</a:t>
            </a:r>
            <a:endParaRPr lang="en-US" sz="1800" dirty="0"/>
          </a:p>
        </p:txBody>
      </p:sp>
      <p:sp>
        <p:nvSpPr>
          <p:cNvPr id="7" name="Text 5"/>
          <p:cNvSpPr/>
          <p:nvPr/>
        </p:nvSpPr>
        <p:spPr>
          <a:xfrm>
            <a:off x="762000" y="1600200"/>
            <a:ext cx="3653028" cy="191929"/>
          </a:xfrm>
          <a:prstGeom prst="rect">
            <a:avLst/>
          </a:prstGeom>
          <a:noFill/>
        </p:spPr>
        <p:txBody>
          <a:bodyPr wrap="square" lIns="0" tIns="0" rIns="0" bIns="0" rtlCol="0" anchor="t"/>
          <a:lstStyle/>
          <a:p>
            <a:pPr marL="0" indent="0">
              <a:lnSpc>
                <a:spcPts val="1510"/>
              </a:lnSpc>
              <a:buNone/>
            </a:pPr>
            <a:r>
              <a:rPr lang="en-US" sz="1080" b="1" dirty="0">
                <a:solidFill>
                  <a:srgbClr val="CBD5E1"/>
                </a:solidFill>
                <a:latin typeface="Arial" panose="020B0604020202020204" pitchFamily="34" charset="0"/>
                <a:ea typeface="Arial" panose="020B0604020202020204" pitchFamily="34" charset="-122"/>
                <a:cs typeface="Arial" panose="020B0604020202020204" pitchFamily="34" charset="-120"/>
              </a:rPr>
              <a:t>RMSE:</a:t>
            </a:r>
            <a:r>
              <a:rPr lang="en-US" sz="1080" dirty="0">
                <a:solidFill>
                  <a:srgbClr val="CBD5E1"/>
                </a:solidFill>
                <a:latin typeface="Arial" panose="020B0604020202020204" pitchFamily="34" charset="0"/>
                <a:ea typeface="Arial" panose="020B0604020202020204" pitchFamily="34" charset="-122"/>
                <a:cs typeface="Arial" panose="020B0604020202020204" pitchFamily="34" charset="-120"/>
              </a:rPr>
              <a:t> 0.7423</a:t>
            </a:r>
            <a:endParaRPr lang="en-US" sz="1080" dirty="0"/>
          </a:p>
        </p:txBody>
      </p:sp>
      <p:sp>
        <p:nvSpPr>
          <p:cNvPr id="8" name="Text 6"/>
          <p:cNvSpPr/>
          <p:nvPr/>
        </p:nvSpPr>
        <p:spPr>
          <a:xfrm>
            <a:off x="762000" y="1792128"/>
            <a:ext cx="3653028" cy="191929"/>
          </a:xfrm>
          <a:prstGeom prst="rect">
            <a:avLst/>
          </a:prstGeom>
          <a:noFill/>
        </p:spPr>
        <p:txBody>
          <a:bodyPr wrap="square" lIns="0" tIns="0" rIns="0" bIns="0" rtlCol="0" anchor="t"/>
          <a:lstStyle/>
          <a:p>
            <a:pPr marL="0" indent="0">
              <a:lnSpc>
                <a:spcPts val="1510"/>
              </a:lnSpc>
              <a:buNone/>
            </a:pPr>
            <a:r>
              <a:rPr lang="en-US" sz="1080" b="1" dirty="0">
                <a:solidFill>
                  <a:srgbClr val="CBD5E1"/>
                </a:solidFill>
                <a:latin typeface="Arial" panose="020B0604020202020204" pitchFamily="34" charset="0"/>
                <a:ea typeface="Arial" panose="020B0604020202020204" pitchFamily="34" charset="-122"/>
                <a:cs typeface="Arial" panose="020B0604020202020204" pitchFamily="34" charset="-120"/>
              </a:rPr>
              <a:t>MAE:</a:t>
            </a:r>
            <a:r>
              <a:rPr lang="en-US" sz="1080" dirty="0">
                <a:solidFill>
                  <a:srgbClr val="CBD5E1"/>
                </a:solidFill>
                <a:latin typeface="Arial" panose="020B0604020202020204" pitchFamily="34" charset="0"/>
                <a:ea typeface="Arial" panose="020B0604020202020204" pitchFamily="34" charset="-122"/>
                <a:cs typeface="Arial" panose="020B0604020202020204" pitchFamily="34" charset="-120"/>
              </a:rPr>
              <a:t> 0.6095</a:t>
            </a:r>
            <a:endParaRPr lang="en-US" sz="1080" dirty="0"/>
          </a:p>
        </p:txBody>
      </p:sp>
      <p:sp>
        <p:nvSpPr>
          <p:cNvPr id="10" name="Text 8"/>
          <p:cNvSpPr/>
          <p:nvPr/>
        </p:nvSpPr>
        <p:spPr>
          <a:xfrm>
            <a:off x="4800600" y="1325882"/>
            <a:ext cx="3653028" cy="274320"/>
          </a:xfrm>
          <a:prstGeom prst="rect">
            <a:avLst/>
          </a:prstGeom>
          <a:noFill/>
        </p:spPr>
        <p:txBody>
          <a:bodyPr wrap="square" lIns="0" tIns="0" rIns="0" bIns="0" rtlCol="0" anchor="t"/>
          <a:lstStyle/>
          <a:p>
            <a:pPr marL="0" indent="0">
              <a:lnSpc>
                <a:spcPts val="2160"/>
              </a:lnSpc>
              <a:buNone/>
            </a:pPr>
            <a:r>
              <a:rPr lang="en-US" sz="1800" b="1" dirty="0">
                <a:solidFill>
                  <a:srgbClr val="38BDF8"/>
                </a:solidFill>
                <a:latin typeface="Arial" panose="020B0604020202020204" pitchFamily="34" charset="0"/>
                <a:ea typeface="Arial" panose="020B0604020202020204" pitchFamily="34" charset="-122"/>
                <a:cs typeface="Arial" panose="020B0604020202020204" pitchFamily="34" charset="-120"/>
              </a:rPr>
              <a:t>Hybrid Metrics</a:t>
            </a:r>
            <a:endParaRPr lang="en-US" sz="1800" dirty="0"/>
          </a:p>
        </p:txBody>
      </p:sp>
      <p:sp>
        <p:nvSpPr>
          <p:cNvPr id="11" name="Text 9"/>
          <p:cNvSpPr/>
          <p:nvPr/>
        </p:nvSpPr>
        <p:spPr>
          <a:xfrm>
            <a:off x="4800600" y="1600200"/>
            <a:ext cx="3653028" cy="191929"/>
          </a:xfrm>
          <a:prstGeom prst="rect">
            <a:avLst/>
          </a:prstGeom>
          <a:noFill/>
        </p:spPr>
        <p:txBody>
          <a:bodyPr wrap="square" lIns="0" tIns="0" rIns="0" bIns="0" rtlCol="0" anchor="t"/>
          <a:lstStyle/>
          <a:p>
            <a:pPr marL="0" indent="0">
              <a:lnSpc>
                <a:spcPts val="1510"/>
              </a:lnSpc>
              <a:buNone/>
            </a:pPr>
            <a:r>
              <a:rPr lang="en-US" sz="1080" b="1" dirty="0">
                <a:solidFill>
                  <a:srgbClr val="CBD5E1"/>
                </a:solidFill>
                <a:latin typeface="Arial" panose="020B0604020202020204" pitchFamily="34" charset="0"/>
                <a:ea typeface="Arial" panose="020B0604020202020204" pitchFamily="34" charset="-122"/>
                <a:cs typeface="Arial" panose="020B0604020202020204" pitchFamily="34" charset="-120"/>
              </a:rPr>
              <a:t>Diversity:</a:t>
            </a:r>
            <a:r>
              <a:rPr lang="en-US" sz="1080" dirty="0">
                <a:solidFill>
                  <a:srgbClr val="CBD5E1"/>
                </a:solidFill>
                <a:latin typeface="Arial" panose="020B0604020202020204" pitchFamily="34" charset="0"/>
                <a:ea typeface="Arial" panose="020B0604020202020204" pitchFamily="34" charset="-122"/>
                <a:cs typeface="Arial" panose="020B0604020202020204" pitchFamily="34" charset="-120"/>
              </a:rPr>
              <a:t> 3+ models</a:t>
            </a:r>
            <a:endParaRPr lang="en-US" sz="1080" dirty="0"/>
          </a:p>
        </p:txBody>
      </p:sp>
      <p:sp>
        <p:nvSpPr>
          <p:cNvPr id="12" name="Text 10"/>
          <p:cNvSpPr/>
          <p:nvPr/>
        </p:nvSpPr>
        <p:spPr>
          <a:xfrm>
            <a:off x="4800600" y="1792128"/>
            <a:ext cx="3653028" cy="191929"/>
          </a:xfrm>
          <a:prstGeom prst="rect">
            <a:avLst/>
          </a:prstGeom>
          <a:noFill/>
        </p:spPr>
        <p:txBody>
          <a:bodyPr wrap="square" lIns="0" tIns="0" rIns="0" bIns="0" rtlCol="0" anchor="t"/>
          <a:lstStyle/>
          <a:p>
            <a:pPr marL="0" indent="0">
              <a:lnSpc>
                <a:spcPts val="1510"/>
              </a:lnSpc>
              <a:buNone/>
            </a:pPr>
            <a:r>
              <a:rPr lang="en-US" sz="1080" b="1" dirty="0">
                <a:solidFill>
                  <a:srgbClr val="CBD5E1"/>
                </a:solidFill>
                <a:latin typeface="Arial" panose="020B0604020202020204" pitchFamily="34" charset="0"/>
                <a:ea typeface="Arial" panose="020B0604020202020204" pitchFamily="34" charset="-122"/>
                <a:cs typeface="Arial" panose="020B0604020202020204" pitchFamily="34" charset="-120"/>
              </a:rPr>
              <a:t>Cold-Start:</a:t>
            </a:r>
            <a:r>
              <a:rPr lang="en-US" sz="1080" dirty="0">
                <a:solidFill>
                  <a:srgbClr val="CBD5E1"/>
                </a:solidFill>
                <a:latin typeface="Arial" panose="020B0604020202020204" pitchFamily="34" charset="0"/>
                <a:ea typeface="Arial" panose="020B0604020202020204" pitchFamily="34" charset="-122"/>
                <a:cs typeface="Arial" panose="020B0604020202020204" pitchFamily="34" charset="-120"/>
              </a:rPr>
              <a:t> ✓ Handled</a:t>
            </a:r>
            <a:endParaRPr lang="en-US" sz="1080" dirty="0"/>
          </a:p>
        </p:txBody>
      </p:sp>
      <p:sp>
        <p:nvSpPr>
          <p:cNvPr id="14" name="Text 12"/>
          <p:cNvSpPr/>
          <p:nvPr/>
        </p:nvSpPr>
        <p:spPr>
          <a:xfrm>
            <a:off x="609600" y="3322439"/>
            <a:ext cx="7924800" cy="1211461"/>
          </a:xfrm>
          <a:prstGeom prst="rect">
            <a:avLst/>
          </a:prstGeom>
          <a:noFill/>
        </p:spPr>
        <p:txBody>
          <a:bodyPr wrap="square" lIns="0" tIns="0" rIns="0" bIns="0" rtlCol="0" anchor="t"/>
          <a:lstStyle/>
          <a:p>
            <a:pPr marL="0" indent="0">
              <a:lnSpc>
                <a:spcPts val="1430"/>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Key Findings:</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SVD's MAE 0.61 means average prediction is within ±0.61 star rating—highly accurate. Hybrid approach prevents over-reliance on single algorithm. Cold-start solved: Item-CF + Content-Based recommend new courses without user history. A/B test (hypothetical): Hybrid recommendations lead to 15% increase in course completion rates, 20% uptick in enrollment for recommended courses. ROI: Improved course discovery → higher platform engagement → increased revenue. Next steps: Deploy to production, A/B test with user cohorts, collect feedback loop to refine weights (currently 40-35-25).</a:t>
            </a:r>
            <a:endParaRPr lang="en-US" sz="1020" dirty="0"/>
          </a:p>
        </p:txBody>
      </p:sp>
      <p:sp>
        <p:nvSpPr>
          <p:cNvPr id="15" name="Text 1"/>
          <p:cNvSpPr/>
          <p:nvPr/>
        </p:nvSpPr>
        <p:spPr>
          <a:xfrm>
            <a:off x="8856980" y="4705985"/>
            <a:ext cx="207645" cy="320040"/>
          </a:xfrm>
          <a:prstGeom prst="rect">
            <a:avLst/>
          </a:prstGeom>
          <a:noFill/>
        </p:spPr>
        <p:txBody>
          <a:bodyPr wrap="square" lIns="0" tIns="0" rIns="0" bIns="0" rtlCol="0" anchor="t"/>
          <a:lstStyle/>
          <a:p>
            <a:pPr marL="0" indent="0" algn="l">
              <a:lnSpc>
                <a:spcPts val="252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13</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3" name="Text 1"/>
          <p:cNvSpPr/>
          <p:nvPr/>
        </p:nvSpPr>
        <p:spPr>
          <a:xfrm>
            <a:off x="609600" y="609600"/>
            <a:ext cx="8083296" cy="411480"/>
          </a:xfrm>
          <a:prstGeom prst="rect">
            <a:avLst/>
          </a:prstGeom>
          <a:noFill/>
        </p:spPr>
        <p:txBody>
          <a:bodyPr wrap="square" lIns="0" tIns="0" rIns="0" bIns="0" rtlCol="0" anchor="t"/>
          <a:lstStyle/>
          <a:p>
            <a:pPr marL="0" indent="0">
              <a:lnSpc>
                <a:spcPts val="3240"/>
              </a:lnSpc>
              <a:buNone/>
            </a:pPr>
            <a:r>
              <a:rPr lang="en-IN" alt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Challenges </a:t>
            </a:r>
            <a:endParaRPr lang="en-IN" altLang="en-US" sz="2700" b="1" dirty="0">
              <a:solidFill>
                <a:srgbClr val="38BDF8"/>
              </a:solidFill>
              <a:latin typeface="Arial" panose="020B0604020202020204" pitchFamily="34" charset="0"/>
              <a:ea typeface="Arial" panose="020B0604020202020204" pitchFamily="34" charset="-122"/>
              <a:cs typeface="Arial" panose="020B0604020202020204" pitchFamily="34" charset="-120"/>
            </a:endParaRPr>
          </a:p>
        </p:txBody>
      </p:sp>
      <p:sp>
        <p:nvSpPr>
          <p:cNvPr id="6" name="Text 4"/>
          <p:cNvSpPr/>
          <p:nvPr/>
        </p:nvSpPr>
        <p:spPr>
          <a:xfrm>
            <a:off x="609600" y="1425575"/>
            <a:ext cx="7620000" cy="2544445"/>
          </a:xfrm>
          <a:prstGeom prst="rect">
            <a:avLst/>
          </a:prstGeom>
          <a:noFill/>
        </p:spPr>
        <p:txBody>
          <a:bodyPr wrap="square" lIns="0" tIns="0" rIns="0" bIns="0" rtlCol="0" anchor="t">
            <a:noAutofit/>
          </a:bodyPr>
          <a:lstStyle/>
          <a:p>
            <a:pPr marL="342900" lvl="0" indent="-342900" algn="l">
              <a:lnSpc>
                <a:spcPts val="1890"/>
              </a:lnSpc>
              <a:buClrTx/>
              <a:buSzTx/>
              <a:buFontTx/>
              <a:buAutoNum type="arabicPeriod"/>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sym typeface="+mn-ea"/>
              </a:rPr>
              <a:t>Proper encoding of categorical features and handling outliers were necessary, and integrating multiple models increased system complexity.</a:t>
            </a:r>
            <a:endPar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sym typeface="+mn-ea"/>
            </a:endParaRPr>
          </a:p>
          <a:p>
            <a:pPr marL="342900" lvl="0" indent="-342900" algn="l">
              <a:lnSpc>
                <a:spcPts val="1890"/>
              </a:lnSpc>
              <a:buClrTx/>
              <a:buSzTx/>
              <a:buFontTx/>
              <a:buAutoNum type="arabicPeriod"/>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sym typeface="+mn-ea"/>
              </a:rPr>
              <a:t>Evaluation mainly used RMSE/MAE, which do not fully measure recommendation quality, and generating recommendations was computationally expensive.</a:t>
            </a:r>
            <a:endPar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sym typeface="+mn-ea"/>
            </a:endParaRPr>
          </a:p>
          <a:p>
            <a:pPr marL="342900" lvl="0" indent="-342900" algn="l">
              <a:lnSpc>
                <a:spcPts val="1890"/>
              </a:lnSpc>
              <a:buClrTx/>
              <a:buSzTx/>
              <a:buFontTx/>
              <a:buAutoNum type="arabicPeriod"/>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sym typeface="+mn-ea"/>
              </a:rPr>
              <a:t>To make the Streamlit app user friendly</a:t>
            </a:r>
            <a:r>
              <a:rPr lang="en-IN" altLang="en-US" sz="1050" dirty="0">
                <a:solidFill>
                  <a:srgbClr val="CBD5E1"/>
                </a:solidFill>
                <a:latin typeface="Arial" panose="020B0604020202020204" pitchFamily="34" charset="0"/>
                <a:ea typeface="Arial" panose="020B0604020202020204" pitchFamily="34" charset="-122"/>
                <a:cs typeface="Arial" panose="020B0604020202020204" pitchFamily="34" charset="-120"/>
                <a:sym typeface="+mn-ea"/>
              </a:rPr>
              <a:t>.</a:t>
            </a:r>
            <a:endParaRPr lang="en-IN" altLang="en-US" sz="1050" dirty="0">
              <a:solidFill>
                <a:srgbClr val="CBD5E1"/>
              </a:solidFill>
              <a:latin typeface="Arial" panose="020B0604020202020204" pitchFamily="34" charset="0"/>
              <a:ea typeface="Arial" panose="020B0604020202020204" pitchFamily="34" charset="-122"/>
              <a:cs typeface="Arial" panose="020B0604020202020204" pitchFamily="34" charset="-120"/>
              <a:sym typeface="+mn-ea"/>
            </a:endParaRPr>
          </a:p>
          <a:p>
            <a:pPr marL="342900" lvl="0" indent="-342900" algn="l">
              <a:lnSpc>
                <a:spcPts val="1890"/>
              </a:lnSpc>
              <a:buClrTx/>
              <a:buSzTx/>
              <a:buFontTx/>
              <a:buAutoNum type="arabicPeriod"/>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sym typeface="+mn-ea"/>
              </a:rPr>
              <a:t>While model building there are different types of models but we have to select the best model for the best recommendation this is one of the challenges it is solved by using the hybrid recommendations system which is combination of individual models</a:t>
            </a:r>
            <a:r>
              <a:rPr lang="en-IN" altLang="en-US" sz="1050" dirty="0">
                <a:solidFill>
                  <a:srgbClr val="CBD5E1"/>
                </a:solidFill>
                <a:latin typeface="Arial" panose="020B0604020202020204" pitchFamily="34" charset="0"/>
                <a:ea typeface="Arial" panose="020B0604020202020204" pitchFamily="34" charset="-122"/>
                <a:cs typeface="Arial" panose="020B0604020202020204" pitchFamily="34" charset="-120"/>
                <a:sym typeface="+mn-ea"/>
              </a:rPr>
              <a:t>.</a:t>
            </a:r>
            <a:endParaRPr lang="en-IN" altLang="en-US" sz="1050" dirty="0">
              <a:solidFill>
                <a:srgbClr val="CBD5E1"/>
              </a:solidFill>
              <a:latin typeface="Arial" panose="020B0604020202020204" pitchFamily="34" charset="0"/>
              <a:ea typeface="Arial" panose="020B0604020202020204" pitchFamily="34" charset="-122"/>
              <a:cs typeface="Arial" panose="020B0604020202020204" pitchFamily="34" charset="-120"/>
              <a:sym typeface="+mn-ea"/>
            </a:endParaRPr>
          </a:p>
          <a:p>
            <a:pPr marL="342900" lvl="0" indent="-342900" algn="l">
              <a:lnSpc>
                <a:spcPts val="1890"/>
              </a:lnSpc>
              <a:buClrTx/>
              <a:buSzTx/>
              <a:buFontTx/>
              <a:buAutoNum type="arabicPeriod"/>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sym typeface="+mn-ea"/>
              </a:rPr>
              <a:t>Limited user–course interactions made collaborative filtering less effective, especially for new users and courses.</a:t>
            </a:r>
            <a:endParaRPr lang="en-IN" altLang="en-US" sz="1050" dirty="0">
              <a:solidFill>
                <a:srgbClr val="CBD5E1"/>
              </a:solidFill>
              <a:latin typeface="Arial" panose="020B0604020202020204" pitchFamily="34" charset="0"/>
              <a:ea typeface="Arial" panose="020B0604020202020204" pitchFamily="34" charset="-122"/>
              <a:cs typeface="Arial" panose="020B0604020202020204" pitchFamily="34" charset="-120"/>
              <a:sym typeface="+mn-ea"/>
            </a:endParaRPr>
          </a:p>
        </p:txBody>
      </p:sp>
      <p:sp>
        <p:nvSpPr>
          <p:cNvPr id="2" name="Text 1"/>
          <p:cNvSpPr/>
          <p:nvPr/>
        </p:nvSpPr>
        <p:spPr>
          <a:xfrm>
            <a:off x="8856980" y="4705985"/>
            <a:ext cx="207645" cy="320040"/>
          </a:xfrm>
          <a:prstGeom prst="rect">
            <a:avLst/>
          </a:prstGeom>
          <a:noFill/>
        </p:spPr>
        <p:txBody>
          <a:bodyPr wrap="square" lIns="0" tIns="0" rIns="0" bIns="0" rtlCol="0" anchor="t"/>
          <a:lstStyle/>
          <a:p>
            <a:pPr marL="0" indent="0" algn="l">
              <a:lnSpc>
                <a:spcPts val="252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14</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39115" y="3052445"/>
            <a:ext cx="8027035" cy="570230"/>
          </a:xfrm>
          <a:prstGeom prst="rect">
            <a:avLst/>
          </a:prstGeom>
          <a:solidFill>
            <a:srgbClr val="1E293B"/>
          </a:solidFill>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80"/>
          </a:xfrm>
          <a:prstGeom prst="rect">
            <a:avLst/>
          </a:prstGeom>
          <a:noFill/>
        </p:spPr>
        <p:txBody>
          <a:bodyPr wrap="square" lIns="0" tIns="0" rIns="0" bIns="0" rtlCol="0" anchor="t"/>
          <a:lstStyle/>
          <a:p>
            <a:pPr marL="0" indent="0">
              <a:lnSpc>
                <a:spcPts val="3240"/>
              </a:lnSpc>
              <a:buNone/>
            </a:pPr>
            <a:r>
              <a:rPr lang="en-US" sz="2700" b="1" dirty="0">
                <a:solidFill>
                  <a:srgbClr val="38BDF8"/>
                </a:solidFill>
                <a:latin typeface="Arial" panose="020B0604020202020204" pitchFamily="34" charset="0"/>
                <a:ea typeface="Arial" panose="020B0604020202020204" pitchFamily="34" charset="-122"/>
                <a:cs typeface="Arial" panose="020B0604020202020204" pitchFamily="34" charset="-120"/>
              </a:rPr>
              <a:t>Conclusion</a:t>
            </a:r>
            <a:endParaRPr lang="en-US" sz="2700" dirty="0"/>
          </a:p>
        </p:txBody>
      </p:sp>
      <p:sp>
        <p:nvSpPr>
          <p:cNvPr id="5" name="Text 3"/>
          <p:cNvSpPr/>
          <p:nvPr/>
        </p:nvSpPr>
        <p:spPr>
          <a:xfrm>
            <a:off x="914400" y="1374577"/>
            <a:ext cx="7620000" cy="1188720"/>
          </a:xfrm>
          <a:prstGeom prst="rect">
            <a:avLst/>
          </a:prstGeom>
          <a:noFill/>
        </p:spPr>
        <p:txBody>
          <a:bodyPr wrap="square" lIns="0" tIns="0" rIns="0" bIns="0" rtlCol="0" anchor="t"/>
          <a:lstStyle/>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End-to-end ML pipeline: data → models → </a:t>
            </a:r>
            <a:r>
              <a:rPr lang="en-IN" alt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deployment</a:t>
            </a:r>
            <a:endParaRPr lang="en-IN" altLang="en-US" sz="1050" dirty="0">
              <a:solidFill>
                <a:srgbClr val="CBD5E1"/>
              </a:solidFill>
              <a:latin typeface="Arial" panose="020B0604020202020204" pitchFamily="34" charset="0"/>
              <a:ea typeface="Arial" panose="020B0604020202020204" pitchFamily="34" charset="-122"/>
              <a:cs typeface="Arial" panose="020B0604020202020204" pitchFamily="34" charset="-120"/>
            </a:endParaRPr>
          </a:p>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3-algorithm hybrid system mitigates individual weaknesses</a:t>
            </a:r>
            <a:endParaRPr lang="en-US" sz="1050" dirty="0"/>
          </a:p>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Production-ready Streamlit deployment for non-technical users</a:t>
            </a:r>
            <a:endParaRPr lang="en-US" sz="1050" dirty="0"/>
          </a:p>
          <a:p>
            <a:pPr marL="342900" indent="-342900">
              <a:lnSpc>
                <a:spcPts val="1890"/>
              </a:lnSpc>
              <a:buSzPct val="100000"/>
              <a:buChar char="•"/>
            </a:pPr>
            <a:r>
              <a:rPr lang="en-US" sz="1050" dirty="0">
                <a:solidFill>
                  <a:srgbClr val="CBD5E1"/>
                </a:solidFill>
                <a:latin typeface="Arial" panose="020B0604020202020204" pitchFamily="34" charset="0"/>
                <a:ea typeface="Arial" panose="020B0604020202020204" pitchFamily="34" charset="-122"/>
                <a:cs typeface="Arial" panose="020B0604020202020204" pitchFamily="34" charset="-120"/>
              </a:rPr>
              <a:t>Handles cold-start &amp; new user onboarding</a:t>
            </a:r>
            <a:endParaRPr lang="en-US" sz="1050" dirty="0"/>
          </a:p>
        </p:txBody>
      </p:sp>
      <p:sp>
        <p:nvSpPr>
          <p:cNvPr id="8" name="Text 6"/>
          <p:cNvSpPr/>
          <p:nvPr/>
        </p:nvSpPr>
        <p:spPr>
          <a:xfrm>
            <a:off x="609600" y="3052682"/>
            <a:ext cx="7924800" cy="1030129"/>
          </a:xfrm>
          <a:prstGeom prst="rect">
            <a:avLst/>
          </a:prstGeom>
          <a:noFill/>
        </p:spPr>
        <p:txBody>
          <a:bodyPr wrap="square" lIns="0" tIns="0" rIns="0" bIns="0" rtlCol="0" anchor="t"/>
          <a:lstStyle/>
          <a:p>
            <a:pPr marL="0" indent="0">
              <a:lnSpc>
                <a:spcPts val="1430"/>
              </a:lnSpc>
              <a:buNone/>
            </a:pPr>
            <a:r>
              <a:rPr lang="en-US" sz="1020" b="1" dirty="0">
                <a:solidFill>
                  <a:srgbClr val="CBD5E1"/>
                </a:solidFill>
                <a:latin typeface="Arial" panose="020B0604020202020204" pitchFamily="34" charset="0"/>
                <a:ea typeface="Arial" panose="020B0604020202020204" pitchFamily="34" charset="-122"/>
                <a:cs typeface="Arial" panose="020B0604020202020204" pitchFamily="34" charset="-120"/>
              </a:rPr>
              <a:t> Why This Project Matters:</a:t>
            </a:r>
            <a:r>
              <a:rPr lang="en-US" sz="1020" dirty="0">
                <a:solidFill>
                  <a:srgbClr val="CBD5E1"/>
                </a:solidFill>
                <a:latin typeface="Arial" panose="020B0604020202020204" pitchFamily="34" charset="0"/>
                <a:ea typeface="Arial" panose="020B0604020202020204" pitchFamily="34" charset="-122"/>
                <a:cs typeface="Arial" panose="020B0604020202020204" pitchFamily="34" charset="-120"/>
              </a:rPr>
              <a:t> Recommendation systems are critical for online learning platforms—users overwhelmed by choice. Smart recommendations increase completion rates, reduce churn, boost revenue. This hybrid approach balances accuracy (SVD), interpretability (Item-CF), and coverage (Content-Based). Deployment via Streamlit democratizes ML—non-data-scientists can experiment with models. </a:t>
            </a:r>
            <a:endParaRPr lang="en-US" sz="1020" dirty="0"/>
          </a:p>
        </p:txBody>
      </p:sp>
      <p:sp>
        <p:nvSpPr>
          <p:cNvPr id="9" name="Text 1"/>
          <p:cNvSpPr/>
          <p:nvPr/>
        </p:nvSpPr>
        <p:spPr>
          <a:xfrm>
            <a:off x="8856980" y="4705985"/>
            <a:ext cx="207645" cy="320040"/>
          </a:xfrm>
          <a:prstGeom prst="rect">
            <a:avLst/>
          </a:prstGeom>
          <a:noFill/>
        </p:spPr>
        <p:txBody>
          <a:bodyPr wrap="square" lIns="0" tIns="0" rIns="0" bIns="0" rtlCol="0" anchor="t"/>
          <a:lstStyle/>
          <a:p>
            <a:pPr marL="0" indent="0" algn="l">
              <a:lnSpc>
                <a:spcPts val="2520"/>
              </a:lnSpc>
              <a:buNone/>
            </a:pPr>
            <a:r>
              <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rPr>
              <a:t>15</a:t>
            </a:r>
            <a:endParaRPr lang="en-IN" altLang="en-US" sz="900" dirty="0">
              <a:solidFill>
                <a:srgbClr val="CBD5E1"/>
              </a:solidFill>
              <a:latin typeface="Arial" panose="020B0604020202020204" pitchFamily="34" charset="0"/>
              <a:ea typeface="Arial" panose="020B0604020202020204" pitchFamily="34" charset="-122"/>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3" name="Text 1"/>
          <p:cNvSpPr/>
          <p:nvPr/>
        </p:nvSpPr>
        <p:spPr>
          <a:xfrm>
            <a:off x="3395164" y="2023030"/>
            <a:ext cx="2495912" cy="548640"/>
          </a:xfrm>
          <a:prstGeom prst="rect">
            <a:avLst/>
          </a:prstGeom>
          <a:noFill/>
        </p:spPr>
        <p:txBody>
          <a:bodyPr wrap="square" lIns="0" tIns="0" rIns="0" bIns="0" rtlCol="0" anchor="t"/>
          <a:lstStyle/>
          <a:p>
            <a:pPr marL="0" indent="0" algn="ctr">
              <a:lnSpc>
                <a:spcPts val="4320"/>
              </a:lnSpc>
              <a:buNone/>
            </a:pPr>
            <a:r>
              <a:rPr lang="en-US" sz="3600" b="1" dirty="0">
                <a:solidFill>
                  <a:srgbClr val="38BDF8"/>
                </a:solidFill>
                <a:latin typeface="Arial" panose="020B0604020202020204" pitchFamily="34" charset="0"/>
                <a:ea typeface="Arial" panose="020B0604020202020204" pitchFamily="34" charset="-122"/>
                <a:cs typeface="Arial" panose="020B0604020202020204" pitchFamily="34" charset="-120"/>
              </a:rPr>
              <a:t>Thank You!</a:t>
            </a:r>
            <a:endParaRPr lang="en-US" sz="3600" dirty="0"/>
          </a:p>
        </p:txBody>
      </p:sp>
    </p:spTree>
  </p:cSld>
  <p:clrMapOvr>
    <a:masterClrMapping/>
  </p:clrMapOvr>
</p:sld>
</file>

<file path=ppt/tags/tag1.xml><?xml version="1.0" encoding="utf-8"?>
<p:tagLst xmlns:p="http://schemas.openxmlformats.org/presentationml/2006/main">
  <p:tag name="KSO_WM_DIAGRAM_VIRTUALLY_FRAME" val="{&quot;height&quot;:130.0116535433071,&quot;left&quot;:76.0128346456693,&quot;top&quot;:140.7,&quot;width&quot;:530.7371653543307}"/>
</p:tagLst>
</file>

<file path=ppt/tags/tag2.xml><?xml version="1.0" encoding="utf-8"?>
<p:tagLst xmlns:p="http://schemas.openxmlformats.org/presentationml/2006/main">
  <p:tag name="KSO_WM_DIAGRAM_VIRTUALLY_FRAME" val="{&quot;height&quot;:130.0116535433071,&quot;left&quot;:76.0128346456693,&quot;top&quot;:140.7,&quot;width&quot;:530.7371653543307}"/>
</p:tagLst>
</file>

<file path=ppt/tags/tag3.xml><?xml version="1.0" encoding="utf-8"?>
<p:tagLst xmlns:p="http://schemas.openxmlformats.org/presentationml/2006/main">
  <p:tag name="KSO_WM_DIAGRAM_VIRTUALLY_FRAME" val="{&quot;height&quot;:130.0116535433071,&quot;left&quot;:76.0128346456693,&quot;top&quot;:140.7,&quot;width&quot;:530.7371653543307}"/>
</p:tagLst>
</file>

<file path=ppt/tags/tag4.xml><?xml version="1.0" encoding="utf-8"?>
<p:tagLst xmlns:p="http://schemas.openxmlformats.org/presentationml/2006/main">
  <p:tag name="KSO_WM_DIAGRAM_VIRTUALLY_FRAME" val="{&quot;height&quot;:130.0116535433071,&quot;left&quot;:76.0128346456693,&quot;top&quot;:140.7,&quot;width&quot;:530.7371653543307}"/>
</p:tagLst>
</file>

<file path=ppt/tags/tag5.xml><?xml version="1.0" encoding="utf-8"?>
<p:tagLst xmlns:p="http://schemas.openxmlformats.org/presentationml/2006/main">
  <p:tag name="KSO_WM_DIAGRAM_VIRTUALLY_FRAME" val="{&quot;height&quot;:130.0116535433071,&quot;left&quot;:76.0128346456693,&quot;top&quot;:140.7,&quot;width&quot;:530.7371653543307}"/>
</p:tagLst>
</file>

<file path=ppt/tags/tag6.xml><?xml version="1.0" encoding="utf-8"?>
<p:tagLst xmlns:p="http://schemas.openxmlformats.org/presentationml/2006/main">
  <p:tag name="KSO_WM_DIAGRAM_VIRTUALLY_FRAME" val="{&quot;height&quot;:130.0116535433071,&quot;left&quot;:76.0128346456693,&quot;top&quot;:140.7,&quot;width&quot;:530.7371653543307}"/>
</p:tagLst>
</file>

<file path=ppt/tags/tag7.xml><?xml version="1.0" encoding="utf-8"?>
<p:tagLst xmlns:p="http://schemas.openxmlformats.org/presentationml/2006/main">
  <p:tag name="KSO_WM_DIAGRAM_VIRTUALLY_FRAME" val="{&quot;height&quot;:130.0116535433071,&quot;left&quot;:76.0128346456693,&quot;top&quot;:140.7,&quot;width&quot;:530.7371653543307}"/>
</p:tagLst>
</file>

<file path=ppt/tags/tag8.xml><?xml version="1.0" encoding="utf-8"?>
<p:tagLst xmlns:p="http://schemas.openxmlformats.org/presentationml/2006/main">
  <p:tag name="KSO_WM_DIAGRAM_VIRTUALLY_FRAME" val="{&quot;height&quot;:130.0116535433071,&quot;left&quot;:76.0128346456693,&quot;top&quot;:140.7,&quot;width&quot;:530.7371653543307}"/>
</p:tagLst>
</file>

<file path=ppt/tags/tag9.xml><?xml version="1.0" encoding="utf-8"?>
<p:tagLst xmlns:p="http://schemas.openxmlformats.org/presentationml/2006/main">
  <p:tag name="KSO_WM_DIAGRAM_VIRTUALLY_FRAME" val="{&quot;height&quot;:130.0116535433071,&quot;left&quot;:76.0128346456693,&quot;top&quot;:140.7,&quot;width&quot;:530.7371653543307}"/>
</p:tagLst>
</file>

<file path=ppt/tags/tag10.xml><?xml version="1.0" encoding="utf-8"?>
<p:tagLst xmlns:p="http://schemas.openxmlformats.org/presentationml/2006/main">
  <p:tag name="KSO_WM_DIAGRAM_VIRTUALLY_FRAME" val="{&quot;height&quot;:162.4874803149606,&quot;left&quot;:48,&quot;top&quot;:92.40015748031496,&quot;width&quot;:624.0094488188977}"/>
</p:tagLst>
</file>

<file path=ppt/tags/tag11.xml><?xml version="1.0" encoding="utf-8"?>
<p:tagLst xmlns:p="http://schemas.openxmlformats.org/presentationml/2006/main">
  <p:tag name="KSO_WM_DIAGRAM_VIRTUALLY_FRAME" val="{&quot;height&quot;:162.4874803149606,&quot;left&quot;:48,&quot;top&quot;:92.40015748031496,&quot;width&quot;:624.0094488188977}"/>
</p:tagLst>
</file>

<file path=ppt/tags/tag12.xml><?xml version="1.0" encoding="utf-8"?>
<p:tagLst xmlns:p="http://schemas.openxmlformats.org/presentationml/2006/main">
  <p:tag name="KSO_WM_DIAGRAM_VIRTUALLY_FRAME" val="{&quot;height&quot;:162.4874803149606,&quot;left&quot;:48,&quot;top&quot;:92.40015748031496,&quot;width&quot;:624.0094488188977}"/>
</p:tagLst>
</file>

<file path=ppt/tags/tag13.xml><?xml version="1.0" encoding="utf-8"?>
<p:tagLst xmlns:p="http://schemas.openxmlformats.org/presentationml/2006/main">
  <p:tag name="KSO_WM_DIAGRAM_VIRTUALLY_FRAME" val="{&quot;height&quot;:162.4874803149606,&quot;left&quot;:48,&quot;top&quot;:92.40015748031496,&quot;width&quot;:624.0094488188977}"/>
</p:tagLst>
</file>

<file path=ppt/tags/tag14.xml><?xml version="1.0" encoding="utf-8"?>
<p:tagLst xmlns:p="http://schemas.openxmlformats.org/presentationml/2006/main">
  <p:tag name="KSO_WM_DIAGRAM_VIRTUALLY_FRAME" val="{&quot;height&quot;:162.4874803149606,&quot;left&quot;:48,&quot;top&quot;:92.40015748031496,&quot;width&quot;:624.0094488188977}"/>
</p:tagLst>
</file>

<file path=ppt/tags/tag15.xml><?xml version="1.0" encoding="utf-8"?>
<p:tagLst xmlns:p="http://schemas.openxmlformats.org/presentationml/2006/main">
  <p:tag name="KSO_WM_DIAGRAM_VIRTUALLY_FRAME" val="{&quot;height&quot;:162.4874803149606,&quot;left&quot;:48,&quot;top&quot;:92.40015748031496,&quot;width&quot;:624.0094488188977}"/>
</p:tagLst>
</file>

<file path=ppt/tags/tag16.xml><?xml version="1.0" encoding="utf-8"?>
<p:tagLst xmlns:p="http://schemas.openxmlformats.org/presentationml/2006/main">
  <p:tag name="KSO_WM_DIAGRAM_VIRTUALLY_FRAME" val="{&quot;height&quot;:162.4874803149606,&quot;left&quot;:48,&quot;top&quot;:92.40015748031496,&quot;width&quot;:624.0094488188977}"/>
</p:tagLst>
</file>

<file path=ppt/tags/tag17.xml><?xml version="1.0" encoding="utf-8"?>
<p:tagLst xmlns:p="http://schemas.openxmlformats.org/presentationml/2006/main">
  <p:tag name="KSO_WM_DIAGRAM_VIRTUALLY_FRAME" val="{&quot;height&quot;:162.4874803149606,&quot;left&quot;:48,&quot;top&quot;:92.40015748031496,&quot;width&quot;:624.0094488188977}"/>
</p:tagLst>
</file>

<file path=ppt/tags/tag18.xml><?xml version="1.0" encoding="utf-8"?>
<p:tagLst xmlns:p="http://schemas.openxmlformats.org/presentationml/2006/main">
  <p:tag name="KSO_WM_DIAGRAM_VIRTUALLY_FRAME" val="{&quot;height&quot;:162.4874803149606,&quot;left&quot;:48,&quot;top&quot;:92.40015748031496,&quot;width&quot;:624.009448818897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10227</Words>
  <Application>WPS Presentation</Application>
  <PresentationFormat>On-screen Show (16:9)</PresentationFormat>
  <Paragraphs>218</Paragraphs>
  <Slides>16</Slides>
  <Notes>15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Arial</vt:lpstr>
      <vt:lpstr>SimSun</vt:lpstr>
      <vt:lpstr>Wingdings</vt:lpstr>
      <vt:lpstr>Arial</vt:lpstr>
      <vt:lpstr>Arial</vt:lpstr>
      <vt:lpstr>Calibri</vt:lpstr>
      <vt:lpstr>Microsoft YaHei</vt:lpstr>
      <vt:lpstr>Arial Unicode MS</vt:lpstr>
      <vt:lpstr>Copperplate Gothic Light</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Perplexity 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creator>Perplexity</dc:creator>
  <dc:subject>PptxGenJS Presentation</dc:subject>
  <cp:lastModifiedBy>Manish Maltare</cp:lastModifiedBy>
  <cp:revision>11</cp:revision>
  <dcterms:created xsi:type="dcterms:W3CDTF">2026-01-04T17:07:00Z</dcterms:created>
  <dcterms:modified xsi:type="dcterms:W3CDTF">2026-01-09T04:26:46Z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472E566643524B92903B06F2A13A0772_13</vt:lpwstr>
  </property>
  <property fmtid="{D5CDD505-2E9C-101B-9397-08002B2CF9AE}" pid="3" name="KSOProductBuildVer">
    <vt:lpwstr>1033-12.2.0.23196</vt:lpwstr>
  </property>
</Properties>
</file>